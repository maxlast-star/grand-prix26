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5F2"/>
    <a:srgbClr val="5E5A73"/>
    <a:srgbClr val="6D5BD0"/>
    <a:srgbClr val="2C5A7A"/>
    <a:srgbClr val="7BA7C7"/>
    <a:srgbClr val="F0F7FC"/>
    <a:srgbClr val="8478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81349" autoAdjust="0"/>
  </p:normalViewPr>
  <p:slideViewPr>
    <p:cSldViewPr snapToGrid="0" snapToObjects="1">
      <p:cViewPr varScale="1">
        <p:scale>
          <a:sx n="86" d="100"/>
          <a:sy n="86" d="100"/>
        </p:scale>
        <p:origin x="141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22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Добрый день. Level Intelligence — предиктивный слой для управления инфраструктурой жилых комплексов.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Сразу главное, чтобы не было недопонимания: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**это не новое приложение.**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Level Home уже работает сильный цифровой стек. Мы построили слой поверх него.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 — объясню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Мы начали не с идеи, а с аудита.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У Level пять систем: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Domyland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приложение жителя,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Demand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 — заказ услуг, SCADA, АРМ инженерии и лифтовый ИИ-пилот, который уже выходит в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продакшен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**Четыре из пяти в </a:t>
            </a:r>
            <a:r>
              <a:rPr lang="ru-RU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проде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Вывод, который определил всё решение: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**проблема не в отсутствии систем.**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Системы есть, и они хорошие.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Проблема в том, что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**они не разговаривают друг с другом.**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Лифтовый пилот пишет телеметрию — она никуда дальше не идёт. Заявки живут в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Domyland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Биллинг отдельно. Никто не видит картину целиком.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Поэтому мы не предлагаем внедрять мониторинг. Он уже есть. Мы предлагаем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**слой, который читает то, что уже собирается.**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Это не наши гипотезы. Это то, что мы услышали на встрече с заказчиком.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**Лифты — негатив номер один.**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Резервирования нет: на шестидесятиэтажном корпусе встали два лифта из четырёх — коллапс. И простой не возместить с подрядчика.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**Счётчики.**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Не опрашиваются вовремя. Житель получает счёт через пять месяцев — сразу за весь период. Дальше шквал жалоб.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**Диспетчерская — два человека на четырнадцать объектов.**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На пределе.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**Руководитель не видит сводной картины.**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Только обзвоном.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Посмотрите на этот список: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**все четыре — про эксплуатационные риски и эффективность управления.**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Не про то, что жителю неудобно. Про то, что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**УК узнаёт о проблеме последней.**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Четыре боли —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**одна работа.**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Сотрудник УК хочет узнавать о проблеме раньше, чем о ней сообщит житель.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Всё. Это точка перехода: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**от реакции на жалобу — к предупреждению по данным.**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 здесь принципиальный выбор, который мы сделали осознанно: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**житель — бенефициар, а не второй герой.**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Мы не делаем два продукта — один для УК, другой для жителя. Мы делаем один. Для сотрудника.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**Житель получает эффект автоматически: там, где диспетчер погасил, житель проблему просто не заметил.**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Как это устроено. Пять слоёв, снизу вверх.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Сверху —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**существующий стек. Мы его не трогаем**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только снимаем данные коннекторами.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Дальше —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**контур обезличивания.**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опциональный блок который обезличивает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пд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Это важное требование, и оно вшито в архитектуру, а не приписано сбоку.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**Единое хранилище**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связывает потоки, которые сегодня изолированы: телеметрию, заявки, биллинг, паркинг.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**Предиктивный движок**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российский стек, локально.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GigaChat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или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YandexGPT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через контур обезличивания, модели деградации на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опенсорсе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а также другие 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ML 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модели которые могут разрабатывать подрядчики.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Снизу —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**единое рабочее место.**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Два экрана: диспетчера и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Шесть модулей.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**На одном движке**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вот это ключевое.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Расчётный центр — флагман.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Предиктив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инженерии. Level Watch — события во дворе, без биометрии. Диспетчерская. Level Park. Level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Spaces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**Одни данные — много предупреждений.**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Каждый следующий модуль не требует нового контура данных, он берёт из того же хранилища. Park, Диспетчерская и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Spaces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вообще работают на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**одном прогнозном движке**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разница только во входных данных.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Это не шесть разработок. Это одна.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 вот здесь наша оригинальность: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**не в отдельной фиче, а в том, что шесть разных болей закрываются одним механизмом.**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Флагман. И этого модуля </a:t>
            </a:r>
            <a:r>
              <a:rPr lang="ru-RU" b="1" dirty="0"/>
              <a:t>не было в брифе</a:t>
            </a:r>
            <a:r>
              <a:rPr lang="ru-RU" dirty="0"/>
              <a:t> — нашли на встрече с заказчиком.</a:t>
            </a:r>
            <a:br>
              <a:rPr lang="ru-RU" dirty="0"/>
            </a:br>
            <a:r>
              <a:rPr lang="ru-RU" dirty="0"/>
              <a:t>Сейчас: счётчик молчит, сумма копится в тумане, через пять месяцев — счёт за весь период разом. Жалоба.</a:t>
            </a:r>
            <a:br>
              <a:rPr lang="ru-RU" dirty="0"/>
            </a:br>
            <a:r>
              <a:rPr lang="ru-RU" b="1" dirty="0"/>
              <a:t>Мы ловим на второй день.</a:t>
            </a:r>
            <a:br>
              <a:rPr lang="ru-RU" dirty="0"/>
            </a:br>
            <a:r>
              <a:rPr lang="ru-RU" dirty="0"/>
              <a:t>Молчащий счётчик — не задача для нейросети, её надо просто </a:t>
            </a:r>
            <a:r>
              <a:rPr lang="ru-RU" b="1" dirty="0"/>
              <a:t>увидеть</a:t>
            </a:r>
            <a:r>
              <a:rPr lang="ru-RU" dirty="0"/>
              <a:t>. Сегодня не видят, потому что опрос и биллинг — в разных системах.</a:t>
            </a:r>
            <a:br>
              <a:rPr lang="ru-RU" dirty="0"/>
            </a:br>
            <a:r>
              <a:rPr lang="ru-RU" dirty="0"/>
              <a:t>Модуль отслеживает регулярность опроса, предупреждает о молчании, эскалирует, если зависло.</a:t>
            </a:r>
            <a:br>
              <a:rPr lang="ru-RU" dirty="0"/>
            </a:br>
            <a:r>
              <a:rPr lang="ru-RU" b="1" dirty="0"/>
              <a:t>Выгода с двух сторон:</a:t>
            </a:r>
            <a:r>
              <a:rPr lang="ru-RU" dirty="0"/>
              <a:t> УК — меньше споров, житель — счёт вовремя.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Берём лифты — негатив номер один, и данные там уже есть.</a:t>
            </a:r>
            <a:br>
              <a:rPr lang="ru-RU" dirty="0"/>
            </a:br>
            <a:r>
              <a:rPr lang="ru-RU" dirty="0"/>
              <a:t>Аргумент — </a:t>
            </a:r>
            <a:r>
              <a:rPr lang="ru-RU" b="1" dirty="0"/>
              <a:t>не бенчмарк, норма права.</a:t>
            </a:r>
            <a:br>
              <a:rPr lang="ru-RU" dirty="0"/>
            </a:br>
            <a:r>
              <a:rPr lang="ru-RU" dirty="0"/>
              <a:t>ПП 354: простой лифта свыше 24 часов в месяц — снижение платы </a:t>
            </a:r>
            <a:r>
              <a:rPr lang="ru-RU" b="1" dirty="0"/>
              <a:t>0,15% за каждый час, всему корпусу, автоматически.</a:t>
            </a:r>
            <a:r>
              <a:rPr lang="ru-RU" dirty="0"/>
              <a:t> Регресса к подрядчику нет.</a:t>
            </a:r>
            <a:br>
              <a:rPr lang="ru-RU" dirty="0"/>
            </a:br>
            <a:r>
              <a:rPr lang="ru-RU" b="1" dirty="0"/>
              <a:t>Одна авария на двое суток обнуляет почти всю месячную выручку по статье «содержание лифта».</a:t>
            </a:r>
            <a:r>
              <a:rPr lang="ru-RU" dirty="0"/>
              <a:t> Это норматив, не наша оценка.</a:t>
            </a:r>
            <a:br>
              <a:rPr lang="ru-RU" dirty="0"/>
            </a:br>
            <a:r>
              <a:rPr lang="ru-RU" dirty="0" err="1"/>
              <a:t>Предиктив</a:t>
            </a:r>
            <a:r>
              <a:rPr lang="ru-RU" dirty="0"/>
              <a:t> предотвращает не двадцать тысяч за выезд — он предотвращает </a:t>
            </a:r>
            <a:r>
              <a:rPr lang="ru-RU" b="1" dirty="0"/>
              <a:t>перерасчёт всему корпусу.</a:t>
            </a:r>
            <a:br>
              <a:rPr lang="ru-RU" dirty="0"/>
            </a:br>
            <a:r>
              <a:rPr lang="ru-RU" b="1" dirty="0"/>
              <a:t>Лифт — только первая система.</a:t>
            </a:r>
            <a:r>
              <a:rPr lang="ru-RU" dirty="0"/>
              <a:t> Тот же паттерн: параметр вышел за норму, тренд деградирует — сигнал. Вентиляция, водоснабжение, электрика — так же. Меняются датчики, движок остаётся.</a:t>
            </a:r>
            <a:br>
              <a:rPr lang="ru-RU" dirty="0"/>
            </a:br>
            <a:r>
              <a:rPr lang="ru-RU" b="1" dirty="0"/>
              <a:t>Начинаем с лифтов — там больнее всего. Дальше те же правила на остальную инженерию, без новой разработки.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Витрина слоя.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проедставте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день руководителя, он отвечает за четырнадцать объектов. Сегодня он узнаёт о проблемах обзвоном диспетчеров. Если же будет агент, то он спрашивает: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**«где сейчас проблемы?»**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и получает сводку за секунды.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Просадка напряжения ночью. Объект на одном вводе из двух. Датчик протечки без реакции. Какие работы идут. И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**аудит: выполнены ли рекомендации, которые система дала вчера.**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Подчеркну важное: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**Агент — не новый модуль и не новый источник данных.**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Он ничего не заводит и никуда не лезет. Модель читает хранилище и отвечает по тому, что модули уже собрали. Новых интеграций не нужно.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 выход Агента —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**рекомендация человеку. Не автопилот.**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При авариях порядка восьмидесяти процентов ответственности лежит на УК. Решение принимает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покжу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целиком, на примере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однгого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сигнала.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**Диспетчер Игорь, один объект.**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Частота остановок лифта корпуса номер три растёт третьи сутки. Параллельно — просадка напряжения. Система связывает это с ростом заявок из того же корпуса. Игорь видит карточку: «лифт корпуса три, кабина два — приближение к отказу», с основанием и рекомендацией. Заводит плановую заявку.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**До отказа, не после.**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Просадка напряжения выходит за рамки объекта. Игорь эскалирует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**руководителю.**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Не Агенту — Агент это интерфейс.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**Руководитель, ** Спрашивает Агента, получает сводку,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приоритизирует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резерв питания объекта три — первым.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**А житель Андрей — вообще вне процесса.**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Он с системой не взаимодействует. Утром уехал на работающем лифте. Вечером поработал из дома при стабильном напряжении.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**Жалобу не написал — для него проблемы не случилось.**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Вот двойная выгода в одном кадре: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**где сотрудник погасил — там житель не пострадал.**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Теперь про деньги.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Мы считали не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финмодель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а эффект на конкретных статьях потерь — там, где деньги уходят прямо сейчас. Всего таких статей четыре, и все они посчитаны на данных: часть из открытых источников, часть — со встречи с заказчиком.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Две про инженерию. Каждый инцидент, переведённый из аварийного в плановый, экономит пятнадцать-двадцать тысяч.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Две про людей. Диспетчерская, в которой работают два человека на четырнадцать объектов, на пределе. Если вырастает пул — без нашего решения нанимают новых сотрудников; каждый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ненанятый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диспетчер это миллион сто — миллион четыреста в год, с учётом взносов. И безопасность: пост мониторинга обходится от миллиона до миллиона семисот. Это четыре человека, сутки через трое, и они физически не смотрят тысячу камер.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Это то, что посчитано.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Три модуля посчитать не смогли т.к. информации в открыт источниках нет. Расчётный центр: нужна стоимость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биллингового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спора, она есть только внутри Level. Level Park: нужен MAU приложения и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юрзаключение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по P2P. Level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Spaces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площадь простаивающих лобби.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Получив необходимую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инфорамцию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можно будет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оценикть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экономический эффект полностью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 раз уж про честность — чего у нас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**нет.**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**Ботов, которые говорят с жителем.**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Людям нужен человек. ИИ разбирает поток за кулисами, но произносит ответ человек.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**Управления </a:t>
            </a:r>
            <a:r>
              <a:rPr lang="ru-RU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противопожаркой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только смотрим.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**Биометрии**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сто пятьдесят второй закон. Работаем с событиями: где мусор, где оставленный предмет. Не с тем, кто это сделал.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**Стройки**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— коворкинг строит застройщик. Мы даём слой поверх.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Может показаться, что мы осторожничали.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**Мы не предлагаем роботов-консьержей не потому, что не придумали.**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Придумали. Отказались — жители голосуют против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допрасходов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а биометрия без согласия незаконна.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**Оригинальность, которую нельзя внедрить, стоит ноль.**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**Про запуск.**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Нулевой этап работает на том, что уже есть: телеметрия пишется, заявки лежат, СКУД стоит. </a:t>
            </a: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**Ни одного нового датчика.**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Дальше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дооснащаем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точечно — там, где эффект подтвердился. Потом модели учатся на накопленной истории.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Level Intelligence — не концепция на будущее.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**Это то, что можно начать в понедельник на данных, которые уже пишутся.**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334925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GRAND PRIX '26 · ЭТАП 2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5424012" y="761908"/>
            <a:ext cx="1893045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УК LEVEL HOME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2427834"/>
            <a:ext cx="1142997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2903890"/>
            <a:ext cx="17602160" cy="1542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633"/>
              </a:lnSpc>
              <a:buNone/>
            </a:pPr>
            <a:r>
              <a:rPr lang="en-US" sz="12600" b="1" kern="0" spc="-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Intelligence</a:t>
            </a:r>
            <a:endParaRPr lang="en-US" sz="12600" dirty="0"/>
          </a:p>
        </p:txBody>
      </p:sp>
      <p:sp>
        <p:nvSpPr>
          <p:cNvPr id="6" name="Text 4"/>
          <p:cNvSpPr/>
          <p:nvPr/>
        </p:nvSpPr>
        <p:spPr>
          <a:xfrm>
            <a:off x="1142997" y="4731762"/>
            <a:ext cx="12950161" cy="1044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723"/>
              </a:lnSpc>
              <a:buNone/>
            </a:pPr>
            <a:r>
              <a:rPr lang="en-US" sz="33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Предиктивный слой для управления инфраструктурой жилых комплексов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142997" y="75496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ЗАКАЗЧИК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2997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УК Level Home — ЖК бизнес-класса, Москва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229149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ОСНОВАНИЕ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29149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Консультация с техэксплуатацией, 13.07.2026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9315300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15300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Анализ цифрового стека и открытых источников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401452" y="7882919"/>
            <a:ext cx="4117861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ДАТА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01452" y="8178144"/>
            <a:ext cx="4117861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Июль 2026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42997" y="9189901"/>
            <a:ext cx="10484152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Поверх существующего стека: Domyland · Demand Pro · SCADA · лифтовый ИИ-пилот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955084" y="9098194"/>
            <a:ext cx="3189877" cy="426875"/>
          </a:xfrm>
          <a:prstGeom prst="roundRect">
            <a:avLst>
              <a:gd name="adj" fmla="val 17851"/>
            </a:avLst>
          </a:prstGeom>
          <a:solidFill>
            <a:srgbClr val="6D5AE6"/>
          </a:solidFill>
          <a:ln/>
        </p:spPr>
      </p:sp>
      <p:sp>
        <p:nvSpPr>
          <p:cNvPr id="18" name="Text 16"/>
          <p:cNvSpPr/>
          <p:nvPr/>
        </p:nvSpPr>
        <p:spPr>
          <a:xfrm>
            <a:off x="14145584" y="9202969"/>
            <a:ext cx="2904573" cy="25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объектов бизнес-класса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9996208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Цифровой стек Level уже сильный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384748" y="1744221"/>
            <a:ext cx="2471853" cy="2554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систем · 4 в проде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10957" y="2659480"/>
            <a:ext cx="3017470" cy="4693841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7408" y="3010952"/>
            <a:ext cx="2671514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Domyland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437408" y="4095226"/>
            <a:ext cx="2504849" cy="327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Приложение жителя: заявки, пропуска, видеонаблюдение, биллинг; CRM обращений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7408" y="6832246"/>
            <a:ext cx="267151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 проде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356945" y="2659480"/>
            <a:ext cx="3017606" cy="4693841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3396" y="3010952"/>
            <a:ext cx="2671663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Demand Pro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4683396" y="3963704"/>
            <a:ext cx="2504985" cy="327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Заказ услуг, кастомизируется силами Level, без подрядчиков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3396" y="6832246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 проде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03069" y="2659480"/>
            <a:ext cx="3017606" cy="4693841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9519" y="3010952"/>
            <a:ext cx="2671663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SCADA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7929519" y="3958342"/>
            <a:ext cx="2504985" cy="327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Диспетчерский сбор данных с инженерных систем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29519" y="6832246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продвинутые объекты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0881232" y="2659480"/>
            <a:ext cx="3017606" cy="4693841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75642" y="3010952"/>
            <a:ext cx="2504985" cy="78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АРМ инженерии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11137542" y="3930051"/>
            <a:ext cx="2504985" cy="298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Пульты лифтов, вентиляции, паркинга, водоснабжения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75642" y="6832246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B04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разрознены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4127356" y="2659480"/>
            <a:ext cx="3017606" cy="4693841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21766" y="3010952"/>
            <a:ext cx="2504985" cy="78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Лифтовый ИИ-пилот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14421766" y="3930051"/>
            <a:ext cx="2504985" cy="298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Телеметрия: двери, тяга, частота остановок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21766" y="6832246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выходит в продакшен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142997" y="8015675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2997" y="8632755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29" name="Text 27"/>
          <p:cNvSpPr/>
          <p:nvPr/>
        </p:nvSpPr>
        <p:spPr>
          <a:xfrm>
            <a:off x="2076226" y="8272724"/>
            <a:ext cx="15520798" cy="81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78"/>
              </a:lnSpc>
              <a:buNone/>
            </a:pP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 не в отсутствии систем — </a:t>
            </a:r>
            <a:r>
              <a:rPr lang="en-US" sz="25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системы не связаны между собой </a:t>
            </a: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 Единой платформы нет.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8823647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Боли заказчика — его словами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3355258" y="1541070"/>
            <a:ext cx="3789703" cy="445895"/>
          </a:xfrm>
          <a:prstGeom prst="roundRect">
            <a:avLst>
              <a:gd name="adj" fmla="val 50000"/>
            </a:avLst>
          </a:prstGeom>
          <a:solidFill>
            <a:srgbClr val="EDE9FB"/>
          </a:solidFill>
          <a:ln/>
        </p:spPr>
      </p:sp>
      <p:sp>
        <p:nvSpPr>
          <p:cNvPr id="7" name="Text 5"/>
          <p:cNvSpPr/>
          <p:nvPr/>
        </p:nvSpPr>
        <p:spPr>
          <a:xfrm>
            <a:off x="13564808" y="1655370"/>
            <a:ext cx="3484294" cy="2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· КОНСУЛЬТАЦИЯ 13.07.2026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2997" y="2388570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3626" y="2721021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ЛИФТЫ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13626" y="3071678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Негатив №1, резервирования нет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513626" y="3641343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60-этажном корпусе остановка 2 из 4 лифтов — коллапс вертикального транспорта. Простой не возместить с подрядчика.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58238" y="2388570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867" y="2721021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СЧЁТЧИКИ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28867" y="3071678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 приходит через 5 месяцев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28867" y="3641343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Счётчики не опрашиваются вовремя → житель получает сумму сразу за весь период → шквал жалоб.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2997" y="5590403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3626" y="5922854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ДИСПЕТЧЕРСКАЯ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13626" y="6273511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диспетчера на 14 объектов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13626" y="6843176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Работают на пределе. Пики создают лифты и расчётный центр — усиливать надо узкое место, а не плодить экраны.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58238" y="5590403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867" y="5922854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ПУЛ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28867" y="6273511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Нет сводной картины по пулу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628867" y="6843176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эксплуатации не видит, где сейчас проблемы, без обзвона диспетчеров.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42997" y="8792235"/>
            <a:ext cx="7886723" cy="885269"/>
          </a:xfrm>
          <a:prstGeom prst="roundRect">
            <a:avLst>
              <a:gd name="adj" fmla="val 12911"/>
            </a:avLst>
          </a:prstGeom>
          <a:solidFill>
            <a:srgbClr val="EF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1409692" y="9134877"/>
            <a:ext cx="1554398" cy="2380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ПОВЕДЕНИЕ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5081" y="8982713"/>
            <a:ext cx="5961583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Нестандартное поведение во дворе не оцифровано — исполнителя не нашли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258238" y="8792235"/>
            <a:ext cx="7886723" cy="885269"/>
          </a:xfrm>
          <a:prstGeom prst="roundRect">
            <a:avLst>
              <a:gd name="adj" fmla="val 12911"/>
            </a:avLst>
          </a:prstGeom>
          <a:solidFill>
            <a:srgbClr val="EFEDE7"/>
          </a:solidFill>
          <a:ln/>
        </p:spPr>
      </p:sp>
      <p:sp>
        <p:nvSpPr>
          <p:cNvPr id="28" name="Text 26"/>
          <p:cNvSpPr/>
          <p:nvPr/>
        </p:nvSpPr>
        <p:spPr>
          <a:xfrm>
            <a:off x="9524933" y="9134877"/>
            <a:ext cx="1085510" cy="2380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ЛОББИ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86544" y="8982713"/>
            <a:ext cx="6377474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Просторные зоны простаивают, а спрос удалёнщиков на коворкинг высок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6547420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Главная работа (JTBD)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323716" y="1795401"/>
            <a:ext cx="4696370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Jobs To Be Done — работа сотрудника УК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2997" y="2369549"/>
            <a:ext cx="16001964" cy="3220718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5082" y="2873457"/>
            <a:ext cx="15365328" cy="2251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96"/>
              </a:lnSpc>
              <a:buNone/>
            </a:pP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Когда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 — сотрудник УК (диспетчер, инженер) — отвечаю за инфраструктуру ЖК, </a:t>
            </a: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 хочу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узнавать о проблеме </a:t>
            </a:r>
            <a:r>
              <a:rPr lang="en-US" sz="3300" dirty="0">
                <a:solidFill>
                  <a:srgbClr val="1A1920"/>
                </a:solidFill>
                <a:highlight>
                  <a:srgbClr val="EDE9FB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раньше, чем о ней сообщит житель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</a:t>
            </a: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чтобы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гасить инциденты проактивно, а не разгребать жалобы постфактум.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2997" y="5885629"/>
            <a:ext cx="181862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ТОЧКА ПЕРЕХОДА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986765" y="5837805"/>
            <a:ext cx="8063709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«реакции на жалобу» → к </a:t>
            </a:r>
            <a:r>
              <a:rPr lang="en-US" sz="19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«предупреждению по данным»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2997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4470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ИСПОЛНИТЕЛЬ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94470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 Игорь, инженеры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94470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Реагирует на сигнал до жалобы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53113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4585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ЗАКАЗЧИК РАБОТЫ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904585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эксплуатации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4585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Хочет сводную картину, чтобы управлять пулом из 14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63228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EDE9FB"/>
          </a:solidFill>
          <a:ln w="8695">
            <a:solidFill>
              <a:srgbClr val="D9D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14701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БЕНЕФИЦИАР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314701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Житель Андрей, 38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14701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Получает работающий дом, не замечая проблемы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6" name="Text 4"/>
          <p:cNvSpPr/>
          <p:nvPr/>
        </p:nvSpPr>
        <p:spPr>
          <a:xfrm>
            <a:off x="4462611" y="1367717"/>
            <a:ext cx="11397779" cy="414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23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Архитектура: слой поверх существующего стека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462611" y="1859993"/>
            <a:ext cx="8593875" cy="566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Intelligence не заменяет то, что уже работает. Он снимает данные с существующих систем, обезличивает их, связывает в одном хранилище и возвращает сотруднику предупреждение — раньше, чем о проблеме сообщит житель.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87038" y="2660877"/>
            <a:ext cx="9110048" cy="794044"/>
          </a:xfrm>
          <a:prstGeom prst="roundRect">
            <a:avLst>
              <a:gd name="adj" fmla="val 14859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1329" y="2606927"/>
            <a:ext cx="3001558" cy="188488"/>
          </a:xfrm>
          <a:prstGeom prst="roundRect">
            <a:avLst>
              <a:gd name="adj" fmla="val 27895"/>
            </a:avLst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11" y="2633216"/>
            <a:ext cx="2846241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1 · ИСТОЧНИКИ — СУЩЕСТВУЮЩИЙ СТЕК</a:t>
            </a:r>
            <a:endParaRPr lang="en-US" sz="828" dirty="0"/>
          </a:p>
        </p:txBody>
      </p:sp>
      <p:sp>
        <p:nvSpPr>
          <p:cNvPr id="11" name="Shape 9"/>
          <p:cNvSpPr/>
          <p:nvPr/>
        </p:nvSpPr>
        <p:spPr>
          <a:xfrm>
            <a:off x="4961329" y="2922157"/>
            <a:ext cx="892568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0773" y="3009024"/>
            <a:ext cx="689879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Domyland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50266" y="2922157"/>
            <a:ext cx="1012560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710" y="3009024"/>
            <a:ext cx="809871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/>
              <a:t>Demand Pro</a:t>
            </a:r>
          </a:p>
        </p:txBody>
      </p:sp>
      <p:sp>
        <p:nvSpPr>
          <p:cNvPr id="15" name="Shape 13"/>
          <p:cNvSpPr/>
          <p:nvPr/>
        </p:nvSpPr>
        <p:spPr>
          <a:xfrm>
            <a:off x="7059195" y="2922157"/>
            <a:ext cx="681206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2801" y="3009024"/>
            <a:ext cx="514356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36770" y="2922157"/>
            <a:ext cx="1286792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6214" y="3009024"/>
            <a:ext cx="1084103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АРМ инженерии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19931" y="2922157"/>
            <a:ext cx="1599398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9375" y="3009024"/>
            <a:ext cx="1396709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Лифтовый ИИ-пилот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15698" y="2922157"/>
            <a:ext cx="2242481" cy="341478"/>
          </a:xfrm>
          <a:prstGeom prst="roundRect">
            <a:avLst>
              <a:gd name="adj" fmla="val 20530"/>
            </a:avLst>
          </a:prstGeom>
          <a:solidFill>
            <a:srgbClr val="FBF5E9"/>
          </a:solidFill>
          <a:ln w="7999">
            <a:solidFill>
              <a:srgbClr val="B0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55142" y="3009024"/>
            <a:ext cx="2039792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621A"/>
                </a:solidFill>
                <a:highlight>
                  <a:srgbClr val="FBF5E9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Противопожарка </a:t>
            </a:r>
            <a:r>
              <a:rPr lang="en-US" sz="759" dirty="0">
                <a:solidFill>
                  <a:srgbClr val="9671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только чтение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98266" y="4166130"/>
            <a:ext cx="111993" cy="79995"/>
          </a:xfrm>
          <a:prstGeom prst="rect">
            <a:avLst/>
          </a:prstGeom>
          <a:solidFill>
            <a:srgbClr val="C6373C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659" y="3661224"/>
            <a:ext cx="2497527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A548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сырые данные — только внутрь контура</a:t>
            </a:r>
            <a:endParaRPr lang="en-US" sz="828" dirty="0"/>
          </a:p>
        </p:txBody>
      </p:sp>
      <p:sp>
        <p:nvSpPr>
          <p:cNvPr id="26" name="Shape 24"/>
          <p:cNvSpPr/>
          <p:nvPr/>
        </p:nvSpPr>
        <p:spPr>
          <a:xfrm>
            <a:off x="5987388" y="4150820"/>
            <a:ext cx="6309348" cy="1072554"/>
          </a:xfrm>
          <a:prstGeom prst="roundRect">
            <a:avLst>
              <a:gd name="adj" fmla="val 11923"/>
            </a:avLst>
          </a:prstGeom>
          <a:solidFill>
            <a:srgbClr val="FCF0F0"/>
          </a:solidFill>
          <a:ln w="15999">
            <a:solidFill>
              <a:srgbClr val="C637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6125" y="4041619"/>
            <a:ext cx="3799382" cy="188488"/>
          </a:xfrm>
          <a:prstGeom prst="roundRect">
            <a:avLst>
              <a:gd name="adj" fmla="val 27895"/>
            </a:avLst>
          </a:prstGeom>
          <a:solidFill>
            <a:srgbClr val="C637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807" y="4067908"/>
            <a:ext cx="3668000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2 · КОНТУР ОБЕЗЛИЧИВАНИЯ — ОБЯЗАТЕЛЬНЫЙ БЛОК</a:t>
            </a:r>
            <a:endParaRPr lang="en-US" sz="828" dirty="0"/>
          </a:p>
        </p:txBody>
      </p:sp>
      <p:sp>
        <p:nvSpPr>
          <p:cNvPr id="29" name="Text 27"/>
          <p:cNvSpPr/>
          <p:nvPr/>
        </p:nvSpPr>
        <p:spPr>
          <a:xfrm>
            <a:off x="6196125" y="4329053"/>
            <a:ext cx="3355088" cy="333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32A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Данные не уходят вовне в исходном виде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96126" y="4635053"/>
            <a:ext cx="5956636" cy="465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F54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удаление и маскирование персональных привязок · допустим гибрид: обезличенные данные → внешняя РФ-модель → возврат в контур Level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64497" y="5367127"/>
            <a:ext cx="1318129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обезличенные потоки</a:t>
            </a:r>
            <a:endParaRPr lang="en-US" sz="828" dirty="0"/>
          </a:p>
        </p:txBody>
      </p:sp>
      <p:sp>
        <p:nvSpPr>
          <p:cNvPr id="34" name="Shape 32"/>
          <p:cNvSpPr/>
          <p:nvPr/>
        </p:nvSpPr>
        <p:spPr>
          <a:xfrm>
            <a:off x="5987387" y="5685040"/>
            <a:ext cx="6309350" cy="909190"/>
          </a:xfrm>
          <a:prstGeom prst="roundRect">
            <a:avLst>
              <a:gd name="adj" fmla="val 14406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8125" y="5578489"/>
            <a:ext cx="2058618" cy="188488"/>
          </a:xfrm>
          <a:prstGeom prst="roundRect">
            <a:avLst>
              <a:gd name="adj" fmla="val 27895"/>
            </a:avLst>
          </a:prstGeom>
          <a:solidFill>
            <a:srgbClr val="8478C9"/>
          </a:solidFill>
          <a:ln/>
        </p:spPr>
      </p:sp>
      <p:sp>
        <p:nvSpPr>
          <p:cNvPr id="36" name="Text 34"/>
          <p:cNvSpPr/>
          <p:nvPr/>
        </p:nvSpPr>
        <p:spPr>
          <a:xfrm>
            <a:off x="6310807" y="5604778"/>
            <a:ext cx="1889454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3 · ЕДИНОЕ ХРАНИЛИЩЕ</a:t>
            </a:r>
            <a:endParaRPr lang="en-US" sz="828" dirty="0"/>
          </a:p>
        </p:txBody>
      </p:sp>
      <p:sp>
        <p:nvSpPr>
          <p:cNvPr id="37" name="Text 35"/>
          <p:cNvSpPr/>
          <p:nvPr/>
        </p:nvSpPr>
        <p:spPr>
          <a:xfrm>
            <a:off x="6188125" y="5870556"/>
            <a:ext cx="6498659" cy="22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Связывает потоки, сегодня изолированные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8126" y="6220504"/>
            <a:ext cx="6108610" cy="180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телеметрия ↔ заявки ↔ биллинг ↔ паркинг · ядро тезиса: одни данные — много предупреждений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497352" y="6967901"/>
            <a:ext cx="111993" cy="79995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41" name="Text 39"/>
          <p:cNvSpPr/>
          <p:nvPr/>
        </p:nvSpPr>
        <p:spPr>
          <a:xfrm>
            <a:off x="10728086" y="6734439"/>
            <a:ext cx="1148381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связанные события</a:t>
            </a:r>
            <a:endParaRPr lang="en-US" sz="828" dirty="0"/>
          </a:p>
        </p:txBody>
      </p:sp>
      <p:sp>
        <p:nvSpPr>
          <p:cNvPr id="42" name="Shape 40"/>
          <p:cNvSpPr/>
          <p:nvPr/>
        </p:nvSpPr>
        <p:spPr>
          <a:xfrm>
            <a:off x="5987388" y="7047896"/>
            <a:ext cx="6309347" cy="1016435"/>
          </a:xfrm>
          <a:prstGeom prst="roundRect">
            <a:avLst>
              <a:gd name="adj" fmla="val 10346"/>
            </a:avLst>
          </a:prstGeom>
          <a:solidFill>
            <a:srgbClr val="F4F2FB"/>
          </a:solidFill>
          <a:ln w="15999">
            <a:solidFill>
              <a:srgbClr val="6D5B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6125" y="6958777"/>
            <a:ext cx="3726886" cy="188488"/>
          </a:xfrm>
          <a:prstGeom prst="roundRect">
            <a:avLst>
              <a:gd name="adj" fmla="val 27895"/>
            </a:avLst>
          </a:prstGeom>
          <a:solidFill>
            <a:srgbClr val="6D5BD0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807" y="6985066"/>
            <a:ext cx="3593329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4 · ПРЕДИКТИВНЫЙ ДВИЖОК — РФ-СТЕК, ЛОКАЛЬНО</a:t>
            </a:r>
            <a:endParaRPr lang="en-US" sz="828" dirty="0"/>
          </a:p>
        </p:txBody>
      </p:sp>
      <p:sp>
        <p:nvSpPr>
          <p:cNvPr id="45" name="Shape 43"/>
          <p:cNvSpPr/>
          <p:nvPr/>
        </p:nvSpPr>
        <p:spPr>
          <a:xfrm>
            <a:off x="6196125" y="7282756"/>
            <a:ext cx="1905503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7992" y="7378375"/>
            <a:ext cx="1827946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Пороговые правила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17992" y="7572613"/>
            <a:ext cx="1827946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отклонение от нормы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189247" y="7282756"/>
            <a:ext cx="1905628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11114" y="7378375"/>
            <a:ext cx="1828083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Модели деградации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311114" y="7572613"/>
            <a:ext cx="1828083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тренд к отказу · опенсорс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82495" y="7282756"/>
            <a:ext cx="1905503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04362" y="7378375"/>
            <a:ext cx="1827945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LLM-интерпретация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304362" y="7572613"/>
            <a:ext cx="1737968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GigaChat / YandexGPT, обезличено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73928" y="8622448"/>
            <a:ext cx="3662891" cy="916691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57165" y="8761814"/>
            <a:ext cx="3626055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5 · ЕДИНОЕ РАБОЧЕЕ МЕСТО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557165" y="8916804"/>
            <a:ext cx="3626055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Экран диспетчера — объект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557166" y="9127791"/>
            <a:ext cx="3479654" cy="210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карточки инцидентов по своему объекту + рекомендация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247054" y="8622448"/>
            <a:ext cx="3663016" cy="916691"/>
          </a:xfrm>
          <a:prstGeom prst="roundRect">
            <a:avLst>
              <a:gd name="adj" fmla="val 9559"/>
            </a:avLst>
          </a:prstGeom>
          <a:solidFill>
            <a:srgbClr val="F0F7FC"/>
          </a:solidFill>
          <a:ln w="7999">
            <a:solidFill>
              <a:srgbClr val="7BA7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30294" y="8761814"/>
            <a:ext cx="3626192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5 · ЕДИНОЕ РАБОЧЕЕ МЕСТО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430294" y="8916804"/>
            <a:ext cx="3626192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A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Экран руководителя — пул из 14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430294" y="9127791"/>
            <a:ext cx="3395435" cy="310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Агент руководителя: сводка по пулу + аудит рекомендаций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462611" y="9766875"/>
            <a:ext cx="224735" cy="137117"/>
          </a:xfrm>
          <a:prstGeom prst="roundRect">
            <a:avLst>
              <a:gd name="adj" fmla="val 19173"/>
            </a:avLst>
          </a:prstGeom>
          <a:ln w="15999">
            <a:solidFill>
              <a:srgbClr val="C637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74966" y="9767375"/>
            <a:ext cx="3248026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закрытый контур: данные не покидают периметр Level</a:t>
            </a:r>
            <a:endParaRPr lang="en-US" sz="828" dirty="0"/>
          </a:p>
        </p:txBody>
      </p:sp>
      <p:sp>
        <p:nvSpPr>
          <p:cNvPr id="68" name="Shape 66"/>
          <p:cNvSpPr/>
          <p:nvPr/>
        </p:nvSpPr>
        <p:spPr>
          <a:xfrm>
            <a:off x="8208746" y="9766875"/>
            <a:ext cx="224736" cy="137117"/>
          </a:xfrm>
          <a:prstGeom prst="roundRect">
            <a:avLst>
              <a:gd name="adj" fmla="val 19173"/>
            </a:avLst>
          </a:prstGeom>
          <a:ln w="15999">
            <a:solidFill>
              <a:srgbClr val="6D5B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21101" y="9767375"/>
            <a:ext cx="580792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наш слой</a:t>
            </a:r>
            <a:endParaRPr lang="en-US" sz="828" dirty="0"/>
          </a:p>
        </p:txBody>
      </p:sp>
      <p:sp>
        <p:nvSpPr>
          <p:cNvPr id="70" name="Shape 68"/>
          <p:cNvSpPr/>
          <p:nvPr/>
        </p:nvSpPr>
        <p:spPr>
          <a:xfrm>
            <a:off x="9306051" y="9766875"/>
            <a:ext cx="224735" cy="137117"/>
          </a:xfrm>
          <a:prstGeom prst="roundRect">
            <a:avLst>
              <a:gd name="adj" fmla="val 19173"/>
            </a:avLst>
          </a:prstGeom>
          <a:ln w="15999">
            <a:solidFill>
              <a:srgbClr val="5E5A7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18405" y="9767375"/>
            <a:ext cx="1779091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существующий стек заказчика</a:t>
            </a:r>
            <a:endParaRPr lang="en-US" sz="828" dirty="0"/>
          </a:p>
        </p:txBody>
      </p: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E860ECC2-7923-438F-A8F5-BA2AA5D03870}"/>
              </a:ext>
            </a:extLst>
          </p:cNvPr>
          <p:cNvCxnSpPr/>
          <p:nvPr/>
        </p:nvCxnSpPr>
        <p:spPr>
          <a:xfrm>
            <a:off x="7573413" y="3454921"/>
            <a:ext cx="0" cy="5866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08733404-F469-4768-856C-B92A3DD640B2}"/>
              </a:ext>
            </a:extLst>
          </p:cNvPr>
          <p:cNvCxnSpPr/>
          <p:nvPr/>
        </p:nvCxnSpPr>
        <p:spPr>
          <a:xfrm>
            <a:off x="8433482" y="5223374"/>
            <a:ext cx="0" cy="461666"/>
          </a:xfrm>
          <a:prstGeom prst="straightConnector1">
            <a:avLst/>
          </a:prstGeom>
          <a:ln>
            <a:solidFill>
              <a:srgbClr val="8478C9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82C81D37-5AF5-4449-A158-A397AEC2666E}"/>
              </a:ext>
            </a:extLst>
          </p:cNvPr>
          <p:cNvCxnSpPr>
            <a:cxnSpLocks/>
          </p:cNvCxnSpPr>
          <p:nvPr/>
        </p:nvCxnSpPr>
        <p:spPr>
          <a:xfrm flipH="1">
            <a:off x="10663339" y="6594230"/>
            <a:ext cx="1" cy="460290"/>
          </a:xfrm>
          <a:prstGeom prst="straightConnector1">
            <a:avLst/>
          </a:prstGeom>
          <a:ln>
            <a:solidFill>
              <a:srgbClr val="8478C9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314E7F3E-EB93-4104-AF50-ABB6F6E4F66D}"/>
              </a:ext>
            </a:extLst>
          </p:cNvPr>
          <p:cNvCxnSpPr>
            <a:cxnSpLocks/>
          </p:cNvCxnSpPr>
          <p:nvPr/>
        </p:nvCxnSpPr>
        <p:spPr>
          <a:xfrm flipH="1">
            <a:off x="10507950" y="8064331"/>
            <a:ext cx="3" cy="558117"/>
          </a:xfrm>
          <a:prstGeom prst="straightConnector1">
            <a:avLst/>
          </a:prstGeom>
          <a:ln>
            <a:solidFill>
              <a:srgbClr val="7BA7C7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FA94C3CD-1E4D-4BF2-8AB6-156158CED6ED}"/>
              </a:ext>
            </a:extLst>
          </p:cNvPr>
          <p:cNvCxnSpPr>
            <a:cxnSpLocks/>
          </p:cNvCxnSpPr>
          <p:nvPr/>
        </p:nvCxnSpPr>
        <p:spPr>
          <a:xfrm>
            <a:off x="7930252" y="8064331"/>
            <a:ext cx="0" cy="594084"/>
          </a:xfrm>
          <a:prstGeom prst="straightConnector1">
            <a:avLst/>
          </a:prstGeom>
          <a:ln>
            <a:solidFill>
              <a:srgbClr val="7BA7C7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63357"/>
            <a:ext cx="17602160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Шесть модулей на одном движке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2997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6D5AE6"/>
          </a:solidFill>
          <a:ln/>
        </p:spPr>
      </p:sp>
      <p:sp>
        <p:nvSpPr>
          <p:cNvPr id="7" name="Text 5"/>
          <p:cNvSpPr/>
          <p:nvPr/>
        </p:nvSpPr>
        <p:spPr>
          <a:xfrm>
            <a:off x="1466754" y="2636244"/>
            <a:ext cx="498749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DCD6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ФЛАГМАН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66754" y="2959185"/>
            <a:ext cx="498749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66754" y="3509829"/>
            <a:ext cx="4670107" cy="1689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E7E2F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Молчащий счётчик ловим на 2-й день, не на 150-й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53113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565" y="2644939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2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885565" y="2967880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Предиктив инженерии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85565" y="3518524"/>
            <a:ext cx="4652195" cy="1671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Сигнал «узел приближается к отказу» до остановки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63228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95680" y="2644939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3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295680" y="2967880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Watch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295680" y="3518524"/>
            <a:ext cx="4652195" cy="1671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События во дворе по парку камер — без биометрии (152-ФЗ)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2997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75449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4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475449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Диспетчерская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475449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 пиков заявок, приоритизация, маршрутизация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53113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565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5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6885565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Park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885565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P2P-аренда мест жителей, прогноз загрузки паркинга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63228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95680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6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2295680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Spaces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2295680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Бронь и данные о востребованности простаивающих лобби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2997" y="9113954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2997" y="9495723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32" name="Text 30"/>
          <p:cNvSpPr/>
          <p:nvPr/>
        </p:nvSpPr>
        <p:spPr>
          <a:xfrm>
            <a:off x="2076226" y="9332962"/>
            <a:ext cx="6992772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Одни данные — </a:t>
            </a:r>
            <a:r>
              <a:rPr lang="en-US" sz="25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много предупреждений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ФЛАГМАН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63357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центр: аномалия видна в данных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331101"/>
            <a:ext cx="8209121" cy="106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879"/>
              </a:lnSpc>
              <a:buNone/>
            </a:pPr>
            <a:r>
              <a:rPr lang="en-US" sz="9000" b="1" kern="0" spc="-225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2-й день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142997" y="3550180"/>
            <a:ext cx="8209121" cy="3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20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сигнал о молчащем счётчике — </a:t>
            </a:r>
            <a:r>
              <a:rPr lang="en-US" sz="202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Intelligence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39224" y="2331101"/>
            <a:ext cx="9525" cy="1566204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9" name="Text 7"/>
          <p:cNvSpPr/>
          <p:nvPr/>
        </p:nvSpPr>
        <p:spPr>
          <a:xfrm>
            <a:off x="9682124" y="2331101"/>
            <a:ext cx="8209121" cy="106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879"/>
              </a:lnSpc>
              <a:buNone/>
            </a:pPr>
            <a:r>
              <a:rPr lang="en-US" sz="9000" b="1" kern="0" spc="-225" dirty="0">
                <a:solidFill>
                  <a:srgbClr val="C9C5B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150-й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9682124" y="3550180"/>
            <a:ext cx="8209121" cy="3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20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жалоба жителя после счёта за 5 месяцев — </a:t>
            </a:r>
            <a:r>
              <a:rPr lang="en-US" sz="202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сегодня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42997" y="4382948"/>
            <a:ext cx="16001964" cy="1013522"/>
          </a:xfrm>
          <a:prstGeom prst="roundRect">
            <a:avLst>
              <a:gd name="adj" fmla="val 11278"/>
            </a:avLst>
          </a:prstGeom>
          <a:solidFill>
            <a:srgbClr val="EF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13" y="4510445"/>
            <a:ext cx="2346765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БИЛЛИНГОВАЯ АНОМАЛИЯ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28713" y="4783675"/>
            <a:ext cx="14764300" cy="594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счётчик молчит и сумма копится «в тумане» · показания скачут относительно истории · начисление резко расходится с типичным по квартире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2997" y="5558340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997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Отслеживает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2997" y="6344974"/>
            <a:ext cx="389975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регулярность опроса каждого счётчика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4883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Предупреждает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214883" y="6344974"/>
            <a:ext cx="4164788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 молчащем счётчике на 2-й день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6769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Прогнозирует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286769" y="6344974"/>
            <a:ext cx="389975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биллинговые аномалии до накопления долга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58656" y="5891606"/>
            <a:ext cx="4164937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Эскалирует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58656" y="6344974"/>
            <a:ext cx="389989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зависшую проблему опроса ответственному</a:t>
            </a:r>
            <a:endParaRPr lang="en-US" sz="18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C045AF-FD4A-4301-9228-A9EA438F23D8}"/>
              </a:ext>
            </a:extLst>
          </p:cNvPr>
          <p:cNvSpPr/>
          <p:nvPr/>
        </p:nvSpPr>
        <p:spPr>
          <a:xfrm>
            <a:off x="8356349" y="497941"/>
            <a:ext cx="1002907" cy="422531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CF68D91-32FA-4FE8-A401-7E9464702288}"/>
              </a:ext>
            </a:extLst>
          </p:cNvPr>
          <p:cNvSpPr/>
          <p:nvPr/>
        </p:nvSpPr>
        <p:spPr>
          <a:xfrm>
            <a:off x="0" y="877"/>
            <a:ext cx="18288000" cy="10286123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1142997" y="685690"/>
            <a:ext cx="5824695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ПРЕДИКТИВ ИНЖЕНЕРИИ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685690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091778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367983"/>
            <a:ext cx="11380351" cy="103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38"/>
              </a:lnSpc>
              <a:buNone/>
            </a:pPr>
            <a:r>
              <a:rPr lang="en-US" sz="3750" b="1" kern="0" spc="-9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Доказываем на лифтах — переносим на инженерию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13879002" y="1425045"/>
            <a:ext cx="3265959" cy="464916"/>
          </a:xfrm>
          <a:prstGeom prst="roundRect">
            <a:avLst>
              <a:gd name="adj" fmla="val 50000"/>
            </a:avLst>
          </a:prstGeom>
          <a:solidFill>
            <a:srgbClr val="EDE9FB"/>
          </a:solidFill>
          <a:ln/>
        </p:spPr>
      </p:sp>
      <p:sp>
        <p:nvSpPr>
          <p:cNvPr id="7" name="Text 5"/>
          <p:cNvSpPr/>
          <p:nvPr/>
        </p:nvSpPr>
        <p:spPr>
          <a:xfrm>
            <a:off x="14107602" y="1548870"/>
            <a:ext cx="2906738" cy="25536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НОРМА ПРАВА · ПП РФ № 354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2997" y="2653634"/>
            <a:ext cx="703043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ДОКАЗАНО НА ЛИФТАХ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2997" y="2928073"/>
            <a:ext cx="7030433" cy="264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Негатив №1 — данные уже есть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2997" y="3494341"/>
            <a:ext cx="3346865" cy="90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289"/>
              </a:lnSpc>
              <a:buNone/>
            </a:pPr>
            <a:r>
              <a:rPr lang="en-US" sz="7200" b="1" kern="0" spc="-225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−0,15%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299861" y="3955182"/>
            <a:ext cx="858215" cy="42068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 час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42997" y="4515200"/>
            <a:ext cx="5886437" cy="5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449"/>
              </a:lnSpc>
              <a:buNone/>
            </a:pPr>
            <a:r>
              <a:rPr lang="en-US" sz="157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снижения платы </a:t>
            </a:r>
            <a:r>
              <a:rPr lang="en-US" sz="15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всему корпусу </a:t>
            </a:r>
            <a:r>
              <a:rPr lang="en-US" sz="157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каждый час простоя лифта сверх 24 ч/мес — автоматически, по ПП РФ № 354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142997" y="5383215"/>
            <a:ext cx="1251143" cy="288025"/>
          </a:xfrm>
          <a:prstGeom prst="roundRect">
            <a:avLst>
              <a:gd name="adj" fmla="val 50000"/>
            </a:avLst>
          </a:prstGeom>
          <a:solidFill>
            <a:srgbClr val="EDE9FB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47" y="5440365"/>
            <a:ext cx="1060643" cy="211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НОРМА ПРАВА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08399" y="5440277"/>
            <a:ext cx="4977629" cy="212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B879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бенчмарк, не оценка · без регресса к подрядчику · риск ГЖИ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142997" y="6011435"/>
            <a:ext cx="6391302" cy="824404"/>
          </a:xfrm>
          <a:prstGeom prst="roundRect">
            <a:avLst>
              <a:gd name="adj" fmla="val 16175"/>
            </a:avLst>
          </a:prstGeom>
          <a:solidFill>
            <a:srgbClr val="EDE9FB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47" y="6163835"/>
            <a:ext cx="6163941" cy="557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5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Одна авария на двое суток обнуляет почти всю месячную выручку по статье «содержание лифта» на корпус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42997" y="7175899"/>
            <a:ext cx="2126929" cy="4554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15–20 тыс ₽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228869" y="7384581"/>
            <a:ext cx="4466670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+ БЕНЧМАРК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228869" y="7578319"/>
            <a:ext cx="4466670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дельта «аварийный → плановый» ремонт за инцидент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3295" y="2653634"/>
            <a:ext cx="9525" cy="5115977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25833" y="2653634"/>
            <a:ext cx="9525" cy="5115977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3" name="Text 21"/>
          <p:cNvSpPr/>
          <p:nvPr/>
        </p:nvSpPr>
        <p:spPr>
          <a:xfrm>
            <a:off x="8452352" y="3634278"/>
            <a:ext cx="1382982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ПАТТЕРН ОДИН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105672" y="4054088"/>
            <a:ext cx="2076344" cy="105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6555"/>
              </a:lnSpc>
              <a:buNone/>
            </a:pPr>
            <a:r>
              <a:rPr lang="en-US" sz="14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Параметр вышел за норму, тренд деградирует → сигнал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686749" y="5295585"/>
            <a:ext cx="914326" cy="876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825"/>
              </a:lnSpc>
              <a:buNone/>
            </a:pPr>
            <a:r>
              <a:rPr lang="en-US" sz="6600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</a:t>
            </a:r>
            <a:endParaRPr lang="en-US" sz="6600" dirty="0"/>
          </a:p>
        </p:txBody>
      </p:sp>
      <p:sp>
        <p:nvSpPr>
          <p:cNvPr id="26" name="Text 24"/>
          <p:cNvSpPr/>
          <p:nvPr/>
        </p:nvSpPr>
        <p:spPr>
          <a:xfrm>
            <a:off x="8105672" y="6362364"/>
            <a:ext cx="2076344" cy="464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6847"/>
              </a:lnSpc>
              <a:buNone/>
            </a:pPr>
            <a:r>
              <a:rPr lang="en-US" sz="1200" dirty="0">
                <a:solidFill>
                  <a:srgbClr val="8B879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Тот же движок, другие датчики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53523" y="2653634"/>
            <a:ext cx="7030582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ПЕРЕНОСИТСЯ НА ИНЖЕНЕРИЮ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753523" y="2928073"/>
            <a:ext cx="7030582" cy="264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Одна логика на весь инженерный контур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753523" y="3306446"/>
            <a:ext cx="6391438" cy="581213"/>
          </a:xfrm>
          <a:prstGeom prst="roundRect">
            <a:avLst>
              <a:gd name="adj" fmla="val 19666"/>
            </a:avLst>
          </a:prstGeom>
          <a:solidFill>
            <a:srgbClr val="EDE9FB"/>
          </a:solidFill>
          <a:ln w="8695">
            <a:solidFill>
              <a:srgbClr val="6D5A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33538" y="3530344"/>
            <a:ext cx="133280" cy="133280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31" name="Text 29"/>
          <p:cNvSpPr/>
          <p:nvPr/>
        </p:nvSpPr>
        <p:spPr>
          <a:xfrm>
            <a:off x="11219119" y="3457931"/>
            <a:ext cx="84028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Лифты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288559" y="3514449"/>
            <a:ext cx="1844026" cy="2033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ЕСТЬ ДАННЫЕ · СЕЙЧАС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0753523" y="3992407"/>
            <a:ext cx="6391438" cy="581213"/>
          </a:xfrm>
          <a:prstGeom prst="roundRect">
            <a:avLst>
              <a:gd name="adj" fmla="val 19666"/>
            </a:avLst>
          </a:prstGeom>
          <a:ln w="8695">
            <a:solidFill>
              <a:srgbClr val="DDDA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33538" y="4216306"/>
            <a:ext cx="133280" cy="133280"/>
          </a:xfrm>
          <a:prstGeom prst="rect">
            <a:avLst/>
          </a:prstGeom>
          <a:ln w="8695">
            <a:solidFill>
              <a:srgbClr val="C9C5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19119" y="4143892"/>
            <a:ext cx="1496263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Вентиляция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210511" y="4200410"/>
            <a:ext cx="830635" cy="2033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СЛЕДУЮЩАЯ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0753523" y="4678369"/>
            <a:ext cx="6391438" cy="581213"/>
          </a:xfrm>
          <a:prstGeom prst="roundRect">
            <a:avLst>
              <a:gd name="adj" fmla="val 19666"/>
            </a:avLst>
          </a:prstGeom>
          <a:ln w="8695">
            <a:solidFill>
              <a:srgbClr val="DDDA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33538" y="4902268"/>
            <a:ext cx="133280" cy="133280"/>
          </a:xfrm>
          <a:prstGeom prst="rect">
            <a:avLst/>
          </a:prstGeom>
          <a:ln w="8695">
            <a:solidFill>
              <a:srgbClr val="C9C5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19119" y="4829854"/>
            <a:ext cx="2001692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Водоснабжение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210511" y="4886372"/>
            <a:ext cx="830635" cy="2033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СЛЕДУЮЩАЯ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10753523" y="5364330"/>
            <a:ext cx="6391438" cy="581213"/>
          </a:xfrm>
          <a:prstGeom prst="roundRect">
            <a:avLst>
              <a:gd name="adj" fmla="val 19666"/>
            </a:avLst>
          </a:prstGeom>
          <a:ln w="8695">
            <a:solidFill>
              <a:srgbClr val="DDDA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33538" y="5588229"/>
            <a:ext cx="133280" cy="133280"/>
          </a:xfrm>
          <a:prstGeom prst="rect">
            <a:avLst/>
          </a:prstGeom>
          <a:ln w="8695">
            <a:solidFill>
              <a:srgbClr val="C9C5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19119" y="5515815"/>
            <a:ext cx="1327687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Электрика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210511" y="5572333"/>
            <a:ext cx="830635" cy="2033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СЛЕДУЮЩАЯ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753523" y="7129978"/>
            <a:ext cx="7030582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Меняются датчики — движок остаётся.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0753523" y="7404417"/>
            <a:ext cx="7030582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Без новой разработки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142997" y="8036306"/>
            <a:ext cx="16001964" cy="1717281"/>
          </a:xfrm>
          <a:prstGeom prst="roundRect">
            <a:avLst>
              <a:gd name="adj" fmla="val 8874"/>
            </a:avLst>
          </a:prstGeom>
          <a:solidFill>
            <a:srgbClr val="6D5AE6"/>
          </a:solidFill>
          <a:ln/>
        </p:spPr>
      </p:sp>
      <p:sp>
        <p:nvSpPr>
          <p:cNvPr id="48" name="Text 46"/>
          <p:cNvSpPr/>
          <p:nvPr/>
        </p:nvSpPr>
        <p:spPr>
          <a:xfrm>
            <a:off x="1561992" y="8341042"/>
            <a:ext cx="16680372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8" dirty="0">
                <a:solidFill>
                  <a:srgbClr val="DCD6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РЕАЛИЗУЕМОСТЬ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561992" y="8646593"/>
            <a:ext cx="16680372" cy="443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244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Телеметрия уже собирается лифтовым пилотом Level</a:t>
            </a:r>
            <a:endParaRPr lang="en-US" sz="2850" dirty="0"/>
          </a:p>
        </p:txBody>
      </p:sp>
      <p:sp>
        <p:nvSpPr>
          <p:cNvPr id="50" name="Text 48"/>
          <p:cNvSpPr/>
          <p:nvPr/>
        </p:nvSpPr>
        <p:spPr>
          <a:xfrm>
            <a:off x="1561992" y="9166125"/>
            <a:ext cx="16680372" cy="320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89"/>
              </a:lnSpc>
              <a:buNone/>
            </a:pPr>
            <a:r>
              <a:rPr lang="en-US" sz="1650" dirty="0">
                <a:solidFill>
                  <a:srgbClr val="DCD6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Дособирать нечего — мы связываем то, что уже пишется в лог.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6" name="Text 4"/>
          <p:cNvSpPr/>
          <p:nvPr/>
        </p:nvSpPr>
        <p:spPr>
          <a:xfrm>
            <a:off x="4057621" y="1239330"/>
            <a:ext cx="11189989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spc="-24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руководителя: собирает из общего слоя данных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57621" y="1806712"/>
            <a:ext cx="8829585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— не новый модуль и не новый источник. События шести модулей стекаются в единое хранилище; LLM читает из него и отвечает на вопрос руководителя. Новых данных Агент не заводит.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57621" y="2619199"/>
            <a:ext cx="10172717" cy="1311465"/>
          </a:xfrm>
          <a:prstGeom prst="roundRect">
            <a:avLst>
              <a:gd name="adj" fmla="val 10168"/>
            </a:avLst>
          </a:prstGeom>
          <a:solidFill>
            <a:srgbClr val="F5F4F8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5813" y="2513635"/>
            <a:ext cx="2789495" cy="204878"/>
          </a:xfrm>
          <a:prstGeom prst="roundRect">
            <a:avLst>
              <a:gd name="adj" fmla="val 27895"/>
            </a:avLst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>
            <a:off x="4409163" y="2542210"/>
            <a:ext cx="2606480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МОДУЛЕЙ — СУЩЕСТВУЮЩИЕ СОБЫТИЯ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5813" y="2894453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277" y="3007897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Расчётный центр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08277" y="3211145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молчащие счётчики · биллинг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5917556" y="2894453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0020" y="3007897"/>
            <a:ext cx="1338755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Предиктив инженерии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50020" y="3376352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лифты · SCADA · деградация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7559298" y="2894453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1762" y="3007897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Watch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1762" y="3211145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события во дворе · камеры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9201041" y="2894453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3505" y="3007897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Диспетчерская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33505" y="3211145"/>
            <a:ext cx="1388811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поток заявок · пики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0842784" y="2894453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5248" y="3007897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Park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5248" y="3211145"/>
            <a:ext cx="1388811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загрузка паркинга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2484526" y="2894453"/>
            <a:ext cx="1527620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6990" y="3007897"/>
            <a:ext cx="1388960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Spaces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616990" y="3211145"/>
            <a:ext cx="1338891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брони · загрузка пространств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4057621" y="4446590"/>
            <a:ext cx="10172717" cy="532303"/>
          </a:xfrm>
          <a:prstGeom prst="roundRect">
            <a:avLst>
              <a:gd name="adj" fmla="val 21473"/>
            </a:avLst>
          </a:prstGeom>
          <a:solidFill>
            <a:srgbClr val="FFFFFF"/>
          </a:solidFill>
          <a:ln w="8695">
            <a:solidFill>
              <a:srgbClr val="B4ABDD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75813" y="4331516"/>
            <a:ext cx="2631761" cy="204878"/>
          </a:xfrm>
          <a:prstGeom prst="roundRect">
            <a:avLst>
              <a:gd name="adj" fmla="val 27895"/>
            </a:avLst>
          </a:prstGeom>
          <a:solidFill>
            <a:srgbClr val="8478C9"/>
          </a:solidFill>
          <a:ln/>
        </p:spPr>
      </p:sp>
      <p:sp>
        <p:nvSpPr>
          <p:cNvPr id="43" name="Text 41"/>
          <p:cNvSpPr/>
          <p:nvPr/>
        </p:nvSpPr>
        <p:spPr>
          <a:xfrm>
            <a:off x="4409163" y="4360091"/>
            <a:ext cx="2444014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ДАННЫХ · ЕДИНОЕ ХРАНИЛИЩЕ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75813" y="4645626"/>
            <a:ext cx="3086229" cy="2293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Все события модулей в одном месте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52796" y="4680406"/>
            <a:ext cx="6466121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телеметрия ↔ заявки ↔ биллинг ↔ паркинг · связанные события, а не изолированные потоки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76353" y="5314334"/>
            <a:ext cx="1508219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читает хранилище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57621" y="5695619"/>
            <a:ext cx="10172717" cy="587734"/>
          </a:xfrm>
          <a:prstGeom prst="roundRect">
            <a:avLst>
              <a:gd name="adj" fmla="val 19448"/>
            </a:avLst>
          </a:prstGeom>
          <a:solidFill>
            <a:srgbClr val="F4F2FB"/>
          </a:solidFill>
          <a:ln w="17390">
            <a:solidFill>
              <a:srgbClr val="6D5B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84508" y="5589240"/>
            <a:ext cx="1685762" cy="204878"/>
          </a:xfrm>
          <a:prstGeom prst="roundRect">
            <a:avLst>
              <a:gd name="adj" fmla="val 27895"/>
            </a:avLst>
          </a:prstGeom>
          <a:solidFill>
            <a:srgbClr val="6D5BD0"/>
          </a:solidFill>
          <a:ln/>
        </p:spPr>
      </p:sp>
      <p:sp>
        <p:nvSpPr>
          <p:cNvPr id="51" name="Text 49"/>
          <p:cNvSpPr/>
          <p:nvPr/>
        </p:nvSpPr>
        <p:spPr>
          <a:xfrm>
            <a:off x="4417858" y="5617815"/>
            <a:ext cx="1495262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ПОВЕРХ СОБЫТИЙ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84508" y="5922371"/>
            <a:ext cx="3088919" cy="2293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30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Собирает события в ответ на вопрос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63937" y="5957151"/>
            <a:ext cx="6334309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РФ-стек · обезличенные данные · новых источников не требует — читает общее хранилище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65775" y="6537138"/>
            <a:ext cx="2154617" cy="755930"/>
          </a:xfrm>
          <a:prstGeom prst="roundRect">
            <a:avLst>
              <a:gd name="adj" fmla="val 126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226770" y="6660093"/>
            <a:ext cx="2015890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ВОПРОС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226770" y="6828560"/>
            <a:ext cx="201589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«Где сейчас проблемы?»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5226770" y="7039688"/>
            <a:ext cx="2015890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вместо обзвона по 14 объектам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8647680" y="6799307"/>
            <a:ext cx="130451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 за секунды → руководителю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057621" y="7626093"/>
            <a:ext cx="10172717" cy="1031727"/>
          </a:xfrm>
          <a:prstGeom prst="roundRect">
            <a:avLst>
              <a:gd name="adj" fmla="val 12925"/>
            </a:avLst>
          </a:prstGeom>
          <a:solidFill>
            <a:srgbClr val="F0F7FC"/>
          </a:solidFill>
          <a:ln w="8695">
            <a:solidFill>
              <a:srgbClr val="7BA7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75813" y="7511019"/>
            <a:ext cx="3183627" cy="204878"/>
          </a:xfrm>
          <a:prstGeom prst="roundRect">
            <a:avLst>
              <a:gd name="adj" fmla="val 27895"/>
            </a:avLst>
          </a:prstGeom>
          <a:solidFill>
            <a:srgbClr val="2C5A7A"/>
          </a:solidFill>
          <a:ln/>
        </p:spPr>
      </p:sp>
      <p:sp>
        <p:nvSpPr>
          <p:cNvPr id="65" name="Text 63"/>
          <p:cNvSpPr/>
          <p:nvPr/>
        </p:nvSpPr>
        <p:spPr>
          <a:xfrm>
            <a:off x="4409163" y="7539594"/>
            <a:ext cx="3012436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СВОДКА РУКОВОДИТЕЛЮ · ПУЛ 14 ОБЪЕКТОВ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94833" y="7901347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27354" y="8014818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Просадка напряжения ночью</a:t>
            </a:r>
            <a:endParaRPr lang="en-US" sz="1013" dirty="0"/>
          </a:p>
        </p:txBody>
      </p:sp>
      <p:sp>
        <p:nvSpPr>
          <p:cNvPr id="68" name="Shape 66"/>
          <p:cNvSpPr/>
          <p:nvPr/>
        </p:nvSpPr>
        <p:spPr>
          <a:xfrm>
            <a:off x="6257344" y="7901347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89864" y="8014818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Объект на 1 вводе из 2</a:t>
            </a:r>
            <a:endParaRPr lang="en-US" sz="1013" dirty="0"/>
          </a:p>
        </p:txBody>
      </p:sp>
      <p:sp>
        <p:nvSpPr>
          <p:cNvPr id="70" name="Shape 68"/>
          <p:cNvSpPr/>
          <p:nvPr/>
        </p:nvSpPr>
        <p:spPr>
          <a:xfrm>
            <a:off x="8219854" y="7901347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52374" y="8014818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Датчик протечки без реакции</a:t>
            </a:r>
            <a:endParaRPr lang="en-US" sz="1013" dirty="0"/>
          </a:p>
        </p:txBody>
      </p:sp>
      <p:sp>
        <p:nvSpPr>
          <p:cNvPr id="72" name="Shape 70"/>
          <p:cNvSpPr/>
          <p:nvPr/>
        </p:nvSpPr>
        <p:spPr>
          <a:xfrm>
            <a:off x="10182365" y="7901347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14885" y="8014818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Какие работы идут сейчас</a:t>
            </a:r>
            <a:endParaRPr lang="en-US" sz="1013" dirty="0"/>
          </a:p>
        </p:txBody>
      </p:sp>
      <p:sp>
        <p:nvSpPr>
          <p:cNvPr id="74" name="Shape 72"/>
          <p:cNvSpPr/>
          <p:nvPr/>
        </p:nvSpPr>
        <p:spPr>
          <a:xfrm>
            <a:off x="12144874" y="7901347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E3EFF7"/>
          </a:solidFill>
          <a:ln w="8695">
            <a:solidFill>
              <a:srgbClr val="2C5A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277394" y="8014818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Аудит исполнения рекомендаций ИИ</a:t>
            </a:r>
            <a:endParaRPr lang="en-US" sz="1013" dirty="0"/>
          </a:p>
        </p:txBody>
      </p:sp>
      <p:sp>
        <p:nvSpPr>
          <p:cNvPr id="76" name="Shape 74"/>
          <p:cNvSpPr/>
          <p:nvPr/>
        </p:nvSpPr>
        <p:spPr>
          <a:xfrm>
            <a:off x="4057621" y="9014590"/>
            <a:ext cx="10172717" cy="651589"/>
          </a:xfrm>
          <a:prstGeom prst="roundRect">
            <a:avLst>
              <a:gd name="adj" fmla="val 14618"/>
            </a:avLst>
          </a:prstGeom>
          <a:solidFill>
            <a:srgbClr val="F5F4F8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56792" y="9181835"/>
            <a:ext cx="870986" cy="1685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74" dirty="0">
                <a:solidFill>
                  <a:srgbClr val="6D5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СМЫСЛ СХЕМЫ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5203879" y="9147055"/>
            <a:ext cx="9092107" cy="42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93"/>
              </a:lnSpc>
              <a:buNone/>
            </a:pPr>
            <a:r>
              <a:rPr lang="en-US" sz="1088" dirty="0">
                <a:solidFill>
                  <a:srgbClr val="3A36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— витрина, не модуль: он не расширяет контур данных, а читает единое хранилище и отвечает на вопросы по тому, что модули уже собрали. Выход — рекомендация человеку, не автопилот.</a:t>
            </a:r>
            <a:endParaRPr lang="en-US" sz="1088" dirty="0"/>
          </a:p>
        </p:txBody>
      </p: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E8A12F55-FA50-485A-A217-841AE2E1226F}"/>
              </a:ext>
            </a:extLst>
          </p:cNvPr>
          <p:cNvCxnSpPr/>
          <p:nvPr/>
        </p:nvCxnSpPr>
        <p:spPr>
          <a:xfrm>
            <a:off x="8572815" y="6283353"/>
            <a:ext cx="0" cy="1342740"/>
          </a:xfrm>
          <a:prstGeom prst="straightConnector1">
            <a:avLst/>
          </a:prstGeom>
          <a:ln>
            <a:solidFill>
              <a:srgbClr val="2C5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EA0E3588-AA95-4911-9C6C-55F7CFC50E16}"/>
              </a:ext>
            </a:extLst>
          </p:cNvPr>
          <p:cNvCxnSpPr/>
          <p:nvPr/>
        </p:nvCxnSpPr>
        <p:spPr>
          <a:xfrm>
            <a:off x="8274050" y="4978893"/>
            <a:ext cx="0" cy="712786"/>
          </a:xfrm>
          <a:prstGeom prst="straightConnector1">
            <a:avLst/>
          </a:prstGeom>
          <a:ln>
            <a:solidFill>
              <a:srgbClr val="6D5BD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F12ED88A-B04B-46B4-A077-F3E0953026CB}"/>
              </a:ext>
            </a:extLst>
          </p:cNvPr>
          <p:cNvCxnSpPr>
            <a:cxnSpLocks/>
          </p:cNvCxnSpPr>
          <p:nvPr/>
        </p:nvCxnSpPr>
        <p:spPr>
          <a:xfrm flipV="1">
            <a:off x="4938212" y="6283353"/>
            <a:ext cx="1" cy="1239686"/>
          </a:xfrm>
          <a:prstGeom prst="straightConnector1">
            <a:avLst/>
          </a:prstGeom>
          <a:ln>
            <a:solidFill>
              <a:srgbClr val="5E5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22D7CE5A-630E-4650-A8D7-B753EA183747}"/>
              </a:ext>
            </a:extLst>
          </p:cNvPr>
          <p:cNvCxnSpPr>
            <a:cxnSpLocks/>
          </p:cNvCxnSpPr>
          <p:nvPr/>
        </p:nvCxnSpPr>
        <p:spPr>
          <a:xfrm>
            <a:off x="8552382" y="3930664"/>
            <a:ext cx="0" cy="515926"/>
          </a:xfrm>
          <a:prstGeom prst="straightConnector1">
            <a:avLst/>
          </a:prstGeom>
          <a:ln>
            <a:solidFill>
              <a:srgbClr val="6D5BD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6" name="Text 4"/>
          <p:cNvSpPr/>
          <p:nvPr/>
        </p:nvSpPr>
        <p:spPr>
          <a:xfrm>
            <a:off x="4462611" y="1272127"/>
            <a:ext cx="10294791" cy="390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2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 корпуса 3: процессы диспетчера и руководителя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462610" y="1782978"/>
            <a:ext cx="9358901" cy="31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Диспетчер гасит инцидент на объекте, руководитель управляет пулом из 14. Связывает их эскалация — человеку, через Агента как интерфейс.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6076" y="2198830"/>
            <a:ext cx="9791972" cy="2545182"/>
          </a:xfrm>
          <a:prstGeom prst="roundRect">
            <a:avLst>
              <a:gd name="adj" fmla="val 5644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0611" y="2271255"/>
            <a:ext cx="385475" cy="2400334"/>
          </a:xfrm>
          <a:prstGeom prst="rect">
            <a:avLst/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 rot="10800000">
            <a:off x="4603352" y="2392553"/>
            <a:ext cx="196192" cy="2195837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kern="0" spc="7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ПУЛ 1 · ДИСПЕТЧЕР ИГОРЬ — ОБЪЕКТ</a:t>
            </a:r>
            <a:endParaRPr lang="en-US" sz="759" dirty="0"/>
          </a:p>
        </p:txBody>
      </p:sp>
      <p:sp>
        <p:nvSpPr>
          <p:cNvPr id="11" name="Shape 9"/>
          <p:cNvSpPr/>
          <p:nvPr/>
        </p:nvSpPr>
        <p:spPr>
          <a:xfrm>
            <a:off x="4996201" y="2532669"/>
            <a:ext cx="2024746" cy="1877505"/>
          </a:xfrm>
          <a:prstGeom prst="roundRect">
            <a:avLst>
              <a:gd name="adj" fmla="val 4667"/>
            </a:avLst>
          </a:prstGeom>
          <a:solidFill>
            <a:srgbClr val="F4F2FB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6818" y="2645786"/>
            <a:ext cx="192738" cy="192738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3" name="Text 11"/>
          <p:cNvSpPr/>
          <p:nvPr/>
        </p:nvSpPr>
        <p:spPr>
          <a:xfrm>
            <a:off x="5088718" y="2645786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828" dirty="0"/>
          </a:p>
        </p:txBody>
      </p:sp>
      <p:sp>
        <p:nvSpPr>
          <p:cNvPr id="14" name="Text 12"/>
          <p:cNvSpPr/>
          <p:nvPr/>
        </p:nvSpPr>
        <p:spPr>
          <a:xfrm>
            <a:off x="5389552" y="2686159"/>
            <a:ext cx="1613046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7F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СИГНАЛ · LEVEL INTELLIGENCE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6818" y="3221725"/>
            <a:ext cx="1839712" cy="67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3A30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Рост остановок лифта корпуса 3 + просадка напряжения → детекция деградации, связка с заявками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82847" y="2532669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6D5B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17" name="Shape 15"/>
          <p:cNvSpPr/>
          <p:nvPr/>
        </p:nvSpPr>
        <p:spPr>
          <a:xfrm>
            <a:off x="7213685" y="2532669"/>
            <a:ext cx="2024746" cy="1877505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44301" y="2645786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19" name="Text 17"/>
          <p:cNvSpPr/>
          <p:nvPr/>
        </p:nvSpPr>
        <p:spPr>
          <a:xfrm>
            <a:off x="7306201" y="2645786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828" dirty="0"/>
          </a:p>
        </p:txBody>
      </p:sp>
      <p:sp>
        <p:nvSpPr>
          <p:cNvPr id="20" name="Text 18"/>
          <p:cNvSpPr/>
          <p:nvPr/>
        </p:nvSpPr>
        <p:spPr>
          <a:xfrm>
            <a:off x="7607035" y="2686159"/>
            <a:ext cx="1228643" cy="169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ИГОРЬ · РАЗБОР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01499" y="3221725"/>
            <a:ext cx="1882511" cy="67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Видит карточку «лифт корпуса 3, кабина 2 → приближение к отказу» с основанием и рекомендацией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00330" y="2532669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23" name="Shape 21"/>
          <p:cNvSpPr/>
          <p:nvPr/>
        </p:nvSpPr>
        <p:spPr>
          <a:xfrm>
            <a:off x="9431168" y="2532669"/>
            <a:ext cx="2024745" cy="1877505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1784" y="2645786"/>
            <a:ext cx="192737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25" name="Text 23"/>
          <p:cNvSpPr/>
          <p:nvPr/>
        </p:nvSpPr>
        <p:spPr>
          <a:xfrm>
            <a:off x="9523684" y="2645786"/>
            <a:ext cx="268937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828" dirty="0"/>
          </a:p>
        </p:txBody>
      </p:sp>
      <p:sp>
        <p:nvSpPr>
          <p:cNvPr id="26" name="Text 24"/>
          <p:cNvSpPr/>
          <p:nvPr/>
        </p:nvSpPr>
        <p:spPr>
          <a:xfrm>
            <a:off x="9824517" y="2686159"/>
            <a:ext cx="1308042" cy="201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ИГОРЬ · ЗАЯВКА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61784" y="3221725"/>
            <a:ext cx="1839711" cy="51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Заводит плановую заявку подрядчику — до отказа, не после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17814" y="2532669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29" name="Shape 27"/>
          <p:cNvSpPr/>
          <p:nvPr/>
        </p:nvSpPr>
        <p:spPr>
          <a:xfrm>
            <a:off x="11648651" y="2532669"/>
            <a:ext cx="2024745" cy="1877505"/>
          </a:xfrm>
          <a:prstGeom prst="roundRect">
            <a:avLst>
              <a:gd name="adj" fmla="val 4667"/>
            </a:avLst>
          </a:prstGeom>
          <a:solidFill>
            <a:srgbClr val="F5F4F8"/>
          </a:solidFill>
          <a:ln w="7999">
            <a:solidFill>
              <a:srgbClr val="8B879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779267" y="2645786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31" name="Text 29"/>
          <p:cNvSpPr/>
          <p:nvPr/>
        </p:nvSpPr>
        <p:spPr>
          <a:xfrm>
            <a:off x="11741167" y="2645786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28" dirty="0"/>
          </a:p>
        </p:txBody>
      </p:sp>
      <p:sp>
        <p:nvSpPr>
          <p:cNvPr id="32" name="Text 30"/>
          <p:cNvSpPr/>
          <p:nvPr/>
        </p:nvSpPr>
        <p:spPr>
          <a:xfrm>
            <a:off x="12042000" y="2686159"/>
            <a:ext cx="1422540" cy="15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КОНЕЦ ПРОЦЕССА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779267" y="3221725"/>
            <a:ext cx="1839712" cy="354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Заявка уходит в общий пул — в работу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802336" y="5178032"/>
            <a:ext cx="4679450" cy="753529"/>
          </a:xfrm>
          <a:prstGeom prst="roundRect">
            <a:avLst>
              <a:gd name="adj" fmla="val 12219"/>
            </a:avLst>
          </a:prstGeom>
          <a:solidFill>
            <a:srgbClr val="FCF0F0"/>
          </a:solidFill>
          <a:ln w="7999">
            <a:solidFill>
              <a:srgbClr val="C6373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50452" y="5296024"/>
            <a:ext cx="2140208" cy="176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548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· ЭСКАЛАЦИЯ РУКОВОДИТЕЛЮ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950452" y="5483356"/>
            <a:ext cx="4514715" cy="334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0"/>
              </a:lnSpc>
              <a:buNone/>
            </a:pPr>
            <a:r>
              <a:rPr lang="en-US" sz="1000" dirty="0">
                <a:solidFill>
                  <a:srgbClr val="6B33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Просадка напряжения выходит за рамки объекта — вопрос резерва по пулу. Эскалация идёт человеку; Агент лишь интерфейс.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246077" y="6087942"/>
            <a:ext cx="9791970" cy="2647738"/>
          </a:xfrm>
          <a:prstGeom prst="roundRect">
            <a:avLst>
              <a:gd name="adj" fmla="val 5314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70611" y="6167455"/>
            <a:ext cx="385476" cy="2496712"/>
          </a:xfrm>
          <a:prstGeom prst="rect">
            <a:avLst/>
          </a:prstGeom>
          <a:solidFill>
            <a:srgbClr val="2C5A7A"/>
          </a:solidFill>
          <a:ln/>
        </p:spPr>
      </p:sp>
      <p:sp>
        <p:nvSpPr>
          <p:cNvPr id="40" name="Text 37"/>
          <p:cNvSpPr/>
          <p:nvPr/>
        </p:nvSpPr>
        <p:spPr>
          <a:xfrm rot="10800000">
            <a:off x="4603352" y="6265509"/>
            <a:ext cx="196192" cy="2330703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kern="0" spc="7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ПУЛ 2 · РУКОВОДИТЕЛЬ — 14 ОБЪЕКТОВ</a:t>
            </a:r>
            <a:endParaRPr lang="en-US" sz="759" dirty="0"/>
          </a:p>
        </p:txBody>
      </p:sp>
      <p:sp>
        <p:nvSpPr>
          <p:cNvPr id="41" name="Shape 38"/>
          <p:cNvSpPr/>
          <p:nvPr/>
        </p:nvSpPr>
        <p:spPr>
          <a:xfrm>
            <a:off x="4996201" y="6405625"/>
            <a:ext cx="1905628" cy="2012371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26818" y="651874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43" name="Text 40"/>
          <p:cNvSpPr/>
          <p:nvPr/>
        </p:nvSpPr>
        <p:spPr>
          <a:xfrm>
            <a:off x="5088718" y="651874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828" dirty="0"/>
          </a:p>
        </p:txBody>
      </p:sp>
      <p:sp>
        <p:nvSpPr>
          <p:cNvPr id="44" name="Text 41"/>
          <p:cNvSpPr/>
          <p:nvPr/>
        </p:nvSpPr>
        <p:spPr>
          <a:xfrm>
            <a:off x="5389551" y="6559115"/>
            <a:ext cx="1487053" cy="16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ВОПРОС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126818" y="7004955"/>
            <a:ext cx="1720595" cy="513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Спрашивает Агента: «где сейчас проблемы?» — вместо обзвона диспетчеров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863729" y="640562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47" name="Shape 44"/>
          <p:cNvSpPr/>
          <p:nvPr/>
        </p:nvSpPr>
        <p:spPr>
          <a:xfrm>
            <a:off x="7094567" y="6405625"/>
            <a:ext cx="2381972" cy="2012371"/>
          </a:xfrm>
          <a:prstGeom prst="roundRect">
            <a:avLst>
              <a:gd name="adj" fmla="val 4355"/>
            </a:avLst>
          </a:prstGeom>
          <a:solidFill>
            <a:srgbClr val="F0F7FC"/>
          </a:solidFill>
          <a:ln w="7999">
            <a:solidFill>
              <a:srgbClr val="7BA7C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25183" y="6518743"/>
            <a:ext cx="192738" cy="192738"/>
          </a:xfrm>
          <a:prstGeom prst="ellipse">
            <a:avLst/>
          </a:prstGeom>
          <a:solidFill>
            <a:srgbClr val="2C5A7A"/>
          </a:solidFill>
          <a:ln/>
        </p:spPr>
      </p:sp>
      <p:sp>
        <p:nvSpPr>
          <p:cNvPr id="49" name="Text 46"/>
          <p:cNvSpPr/>
          <p:nvPr/>
        </p:nvSpPr>
        <p:spPr>
          <a:xfrm>
            <a:off x="7187083" y="651874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828" dirty="0"/>
          </a:p>
        </p:txBody>
      </p:sp>
      <p:sp>
        <p:nvSpPr>
          <p:cNvPr id="50" name="Text 47"/>
          <p:cNvSpPr/>
          <p:nvPr/>
        </p:nvSpPr>
        <p:spPr>
          <a:xfrm>
            <a:off x="7487917" y="6559115"/>
            <a:ext cx="1512277" cy="15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АГЕНТ РУКОВОДИТЕЛЯ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225183" y="7004955"/>
            <a:ext cx="2196940" cy="82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Сводка по 14 объектам: объект 3 на одном вводе из двух · лифт корпуса 3 на контроле · датчик протечки на объекте 7 без реакции + аудит исполнения рекомендаций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9438439" y="640562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4E76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53" name="Shape 50"/>
          <p:cNvSpPr/>
          <p:nvPr/>
        </p:nvSpPr>
        <p:spPr>
          <a:xfrm>
            <a:off x="9669277" y="6405625"/>
            <a:ext cx="1905629" cy="2012371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799895" y="651874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55" name="Text 52"/>
          <p:cNvSpPr/>
          <p:nvPr/>
        </p:nvSpPr>
        <p:spPr>
          <a:xfrm>
            <a:off x="9761795" y="651874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828" dirty="0"/>
          </a:p>
        </p:txBody>
      </p:sp>
      <p:sp>
        <p:nvSpPr>
          <p:cNvPr id="56" name="Text 53"/>
          <p:cNvSpPr/>
          <p:nvPr/>
        </p:nvSpPr>
        <p:spPr>
          <a:xfrm>
            <a:off x="10062628" y="6559115"/>
            <a:ext cx="1433896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ПРИОРИТЕТ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799895" y="7004955"/>
            <a:ext cx="1720594" cy="35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Приоритизирует: резерв питания объекта 3 — первым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11536806" y="640562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59" name="Shape 56"/>
          <p:cNvSpPr/>
          <p:nvPr/>
        </p:nvSpPr>
        <p:spPr>
          <a:xfrm>
            <a:off x="11767643" y="6405625"/>
            <a:ext cx="1905627" cy="2012371"/>
          </a:xfrm>
          <a:prstGeom prst="roundRect">
            <a:avLst>
              <a:gd name="adj" fmla="val 4598"/>
            </a:avLst>
          </a:prstGeom>
          <a:solidFill>
            <a:srgbClr val="F5F4F8"/>
          </a:solidFill>
          <a:ln w="7999">
            <a:solidFill>
              <a:srgbClr val="8B879E"/>
            </a:solidFill>
            <a:prstDash val="dash"/>
          </a:ln>
        </p:spPr>
      </p:sp>
      <p:sp>
        <p:nvSpPr>
          <p:cNvPr id="60" name="Shape 57"/>
          <p:cNvSpPr/>
          <p:nvPr/>
        </p:nvSpPr>
        <p:spPr>
          <a:xfrm>
            <a:off x="11898259" y="651874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61" name="Text 58"/>
          <p:cNvSpPr/>
          <p:nvPr/>
        </p:nvSpPr>
        <p:spPr>
          <a:xfrm>
            <a:off x="11860159" y="651874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828" dirty="0"/>
          </a:p>
        </p:txBody>
      </p:sp>
      <p:sp>
        <p:nvSpPr>
          <p:cNvPr id="62" name="Text 59"/>
          <p:cNvSpPr/>
          <p:nvPr/>
        </p:nvSpPr>
        <p:spPr>
          <a:xfrm>
            <a:off x="12160993" y="6559115"/>
            <a:ext cx="1150824" cy="15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КОНЕЦ ПРОЦЕССА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1898259" y="7004955"/>
            <a:ext cx="1720595" cy="513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Работы назначены по приоритету, исполнение — на аудите Агента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8563723" y="8892060"/>
            <a:ext cx="5257789" cy="1074899"/>
          </a:xfrm>
          <a:prstGeom prst="roundRect">
            <a:avLst>
              <a:gd name="adj" fmla="val 10585"/>
            </a:avLst>
          </a:prstGeom>
          <a:solidFill>
            <a:srgbClr val="F1F8F4"/>
          </a:solidFill>
          <a:ln w="7999">
            <a:solidFill>
              <a:srgbClr val="3E6B57"/>
            </a:solidFill>
            <a:prstDash val="dash"/>
          </a:ln>
        </p:spPr>
      </p:sp>
      <p:sp>
        <p:nvSpPr>
          <p:cNvPr id="65" name="Text 62"/>
          <p:cNvSpPr/>
          <p:nvPr/>
        </p:nvSpPr>
        <p:spPr>
          <a:xfrm>
            <a:off x="8764460" y="9031427"/>
            <a:ext cx="5341945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00" kern="0" spc="68" dirty="0">
                <a:solidFill>
                  <a:srgbClr val="5C8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ЖИТЕЛЬ АНДРЕЙ · БЕНЕФИЦИАР — ВНЕ ПРОЦЕССА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764460" y="9203916"/>
            <a:ext cx="5341945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 устранена до её появления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764460" y="9467483"/>
            <a:ext cx="5002003" cy="369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968"/>
              </a:lnSpc>
              <a:buNone/>
            </a:pPr>
            <a:r>
              <a:rPr lang="en-US" sz="1000" dirty="0">
                <a:solidFill>
                  <a:srgbClr val="4A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 работает, напряжение стабильно — жалобы нет. С системой не взаимодействует: эффект получает через работу обоих пулов.</a:t>
            </a:r>
            <a:endParaRPr lang="en-US" sz="1000" dirty="0"/>
          </a:p>
        </p:txBody>
      </p: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9BDE22BF-D6D5-4B62-A41C-FFAAAC11182C}"/>
              </a:ext>
            </a:extLst>
          </p:cNvPr>
          <p:cNvCxnSpPr>
            <a:cxnSpLocks/>
          </p:cNvCxnSpPr>
          <p:nvPr/>
        </p:nvCxnSpPr>
        <p:spPr>
          <a:xfrm>
            <a:off x="12734925" y="4744012"/>
            <a:ext cx="0" cy="27566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id="{20E4507E-CD65-4B0F-9D8F-24F42FDA6BD8}"/>
              </a:ext>
            </a:extLst>
          </p:cNvPr>
          <p:cNvCxnSpPr/>
          <p:nvPr/>
        </p:nvCxnSpPr>
        <p:spPr>
          <a:xfrm flipH="1">
            <a:off x="5892800" y="5019675"/>
            <a:ext cx="684212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3AC173CE-6ACF-4222-A5C8-7A98343F1DDD}"/>
              </a:ext>
            </a:extLst>
          </p:cNvPr>
          <p:cNvCxnSpPr>
            <a:cxnSpLocks/>
          </p:cNvCxnSpPr>
          <p:nvPr/>
        </p:nvCxnSpPr>
        <p:spPr>
          <a:xfrm>
            <a:off x="5892800" y="5019675"/>
            <a:ext cx="0" cy="10682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25180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Экономика: что считается, что — нет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СЧИТАЕТСЯ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142997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2940844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Дельта «аварийный vs плановый» на инцидент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000000" y="2952256"/>
            <a:ext cx="1839244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15–20 тыс ₽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000000" y="3329406"/>
            <a:ext cx="1839244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+ БЕНЧМАРК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42997" y="4034660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997" y="4546856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Перерасчёт за простой лифта — всему корпусу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48610" y="4558268"/>
            <a:ext cx="1990633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0,15 % / час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48610" y="4935417"/>
            <a:ext cx="1990633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НОРМА ПРАВА · ПП 354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142997" y="5640671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2997" y="6289271"/>
            <a:ext cx="5341832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Ненайм FTE диспетчера при росте пула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158913" y="6152867"/>
            <a:ext cx="268033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1,1–1,4 млн ₽/год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158913" y="6530017"/>
            <a:ext cx="2680331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БЕНЧМАРК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142997" y="7223858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8"/>
          <p:cNvSpPr/>
          <p:nvPr/>
        </p:nvSpPr>
        <p:spPr>
          <a:xfrm>
            <a:off x="1142997" y="7736053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Baseline поста мониторинга (Level Watch)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144117" y="7747465"/>
            <a:ext cx="2695126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1,0–1,7 млн ₽/год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144117" y="8124615"/>
            <a:ext cx="2695126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БЕНЧМАРК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48715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НЕ СЧИТАЕТСЯ — И ПОЧЕМУ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448715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5" name="Text 23"/>
          <p:cNvSpPr/>
          <p:nvPr/>
        </p:nvSpPr>
        <p:spPr>
          <a:xfrm>
            <a:off x="9448715" y="3068418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448715" y="3483608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Нужна стоимость обработки биллинг-спора — только от Level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48715" y="4519819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715" y="5287297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Park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448715" y="5702488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Нужен MAU приложения + юрзаключение по P2P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48715" y="6738563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1" name="Text 29"/>
          <p:cNvSpPr/>
          <p:nvPr/>
        </p:nvSpPr>
        <p:spPr>
          <a:xfrm>
            <a:off x="9448715" y="7506041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Spaces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448715" y="7921232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Нужна площадь простаивающих лобби + MAU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2997" y="8845221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2997" y="9370867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35" name="Text 33"/>
          <p:cNvSpPr/>
          <p:nvPr/>
        </p:nvSpPr>
        <p:spPr>
          <a:xfrm>
            <a:off x="2076226" y="9045208"/>
            <a:ext cx="15520798" cy="746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876"/>
              </a:lnSpc>
              <a:buNone/>
            </a:pPr>
            <a:r>
              <a:rPr lang="en-US" sz="23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модуля из шести считаются на бенчмарках, три — нет. </a:t>
            </a:r>
            <a:r>
              <a:rPr lang="en-US" sz="2325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Мы не прячем — показываем, где отказались выдумывать.</a:t>
            </a:r>
            <a:endParaRPr lang="en-US" sz="23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25180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Границы решения и этапы внедрения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ОСОЗНАННО НЕ ВХОДИТ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142997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3203056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85904" y="3203056"/>
            <a:ext cx="4151188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Боты на клиентском фронте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85904" y="3562815"/>
            <a:ext cx="6308903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«людям нужен человек»: с жителем говорит человек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42997" y="4973866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85904" y="4973866"/>
            <a:ext cx="4507619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Управление противопожаркой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85904" y="5333626"/>
            <a:ext cx="4939222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мониторинг, обязательные нормы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42997" y="6744677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85904" y="6744677"/>
            <a:ext cx="4811893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Биометрия и распознавание лиц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85904" y="7104436"/>
            <a:ext cx="4811893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152-ФЗ, только событийный контур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42997" y="8515351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85904" y="8515351"/>
            <a:ext cx="4170317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Строительство пространств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85904" y="8875111"/>
            <a:ext cx="5469310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задача застройщика, мы даём цифровой слой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448715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ЭТАПНОСТЬ ВНЕДРЕНИЯ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448715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2" name="Shape 20"/>
          <p:cNvSpPr/>
          <p:nvPr/>
        </p:nvSpPr>
        <p:spPr>
          <a:xfrm>
            <a:off x="9448715" y="3198844"/>
            <a:ext cx="7696246" cy="1395563"/>
          </a:xfrm>
          <a:prstGeom prst="roundRect">
            <a:avLst>
              <a:gd name="adj" fmla="val 9555"/>
            </a:avLst>
          </a:prstGeom>
          <a:solidFill>
            <a:srgbClr val="6D5A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53451" y="3711855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05851" y="3788055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922669" y="3446382"/>
            <a:ext cx="650931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MVP на существующих данных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922669" y="3842553"/>
            <a:ext cx="6095082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CD6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Лифтовая телеметрия, заявки Domyland, СКУД — без единого нового датчика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448715" y="5613363"/>
            <a:ext cx="7696246" cy="1412953"/>
          </a:xfrm>
          <a:prstGeom prst="roundRect">
            <a:avLst>
              <a:gd name="adj" fmla="val 943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2146" y="6135069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EDE9FB"/>
          </a:solidFill>
          <a:ln/>
        </p:spPr>
      </p:sp>
      <p:sp>
        <p:nvSpPr>
          <p:cNvPr id="29" name="Text 27"/>
          <p:cNvSpPr/>
          <p:nvPr/>
        </p:nvSpPr>
        <p:spPr>
          <a:xfrm>
            <a:off x="9914546" y="6211269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931365" y="5869597"/>
            <a:ext cx="6490182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Дооснащение датчиками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931365" y="6265767"/>
            <a:ext cx="6077170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Точечно там, где данных не хватает — по мере подтверждения эффекта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448715" y="8045137"/>
            <a:ext cx="7696246" cy="1160795"/>
          </a:xfrm>
          <a:prstGeom prst="roundRect">
            <a:avLst>
              <a:gd name="adj" fmla="val 114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62146" y="8440764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EDE9FB"/>
          </a:solidFill>
          <a:ln/>
        </p:spPr>
      </p:sp>
      <p:sp>
        <p:nvSpPr>
          <p:cNvPr id="34" name="Text 32"/>
          <p:cNvSpPr/>
          <p:nvPr/>
        </p:nvSpPr>
        <p:spPr>
          <a:xfrm>
            <a:off x="9914546" y="8516964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2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931365" y="8301371"/>
            <a:ext cx="6040347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 на накопленной истории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931365" y="8697541"/>
            <a:ext cx="6040347" cy="290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Модели деградации обучаются на данных этапов 0–1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3329</Words>
  <Application>Microsoft Office PowerPoint</Application>
  <PresentationFormat>Произвольный</PresentationFormat>
  <Paragraphs>380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Golos Text</vt:lpstr>
      <vt:lpstr>IBM Plex Mono</vt:lpstr>
      <vt:lpstr>Space Grotesk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Максим Ластовенко</cp:lastModifiedBy>
  <cp:revision>13</cp:revision>
  <dcterms:created xsi:type="dcterms:W3CDTF">2026-07-16T06:47:36Z</dcterms:created>
  <dcterms:modified xsi:type="dcterms:W3CDTF">2026-07-16T16:22:25Z</dcterms:modified>
</cp:coreProperties>
</file>