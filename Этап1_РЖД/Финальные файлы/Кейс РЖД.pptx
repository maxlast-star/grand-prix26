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86201" autoAdjust="0"/>
  </p:normalViewPr>
  <p:slideViewPr>
    <p:cSldViewPr snapToGrid="0" snapToObjects="1">
      <p:cViewPr varScale="1">
        <p:scale>
          <a:sx n="91" d="100"/>
          <a:sy n="91" d="100"/>
        </p:scale>
        <p:origin x="111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Добрый день. Мы представляем проект «Проводник в страну РЖД» — развитие цифровой системы адаптации новых работников до 2036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Начну с цифры. Каждый год РЖД принимает почти сто девятнадцать тысяч новых работников. И каждый из них в первый день остаётся один на один с десятками вопросов: где регламент, когда медосмотр, к кому идти. От того, насколько быстро он получит ответ, напрямую зависит, останется ли он в компании. Сегодня мы покажем, как сделать этот вход в профессию быстрым, персональным и управляемым.</a:t>
            </a:r>
          </a:p>
          <a:p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Мы проанализировали текущую систему адаптации и увидели три потолка.</a:t>
            </a:r>
          </a:p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Первый — технологический. Чат-бот «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Локобот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» работает на устаревшей технологии NLP: он ищет совпадение по шаблону и, если не нашёл, просто молчит или возвращает новичку ошибку. Новичок переспрашивает, не получает ответа и идёт отвлекать наставника.</a:t>
            </a:r>
          </a:p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Второй — отсутствие персонализации. Модуль «Адаптация» — это один по сути статичный чек-лист для всех: помощнику машиниста могут показывать офисные задачи, которые 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отвелкают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новичка от более важных задач и могут вводить в заблуждение.</a:t>
            </a:r>
          </a:p>
          <a:p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Третий — изолированность. Бот, модуль и СДО не связаны между собой. Данные не работают ни на сотрудника, ни на HR.</a:t>
            </a:r>
          </a:p>
          <a:p>
            <a:b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Главное: ни один из этих потолков нельзя пробить простым «</a:t>
            </a:r>
            <a:r>
              <a:rPr lang="ru-RU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докручиванием</a:t>
            </a: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». Нужен переход к другой архитектуре.</a:t>
            </a:r>
          </a:p>
          <a:p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Мы изучили пять решений — российских и мировых — и по каждому чётко определили, что берём, а что отвергаем.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От ассистентов </a:t>
            </a:r>
            <a:r>
              <a:rPr lang="ru-RU" b="0" i="0" dirty="0" err="1">
                <a:solidFill>
                  <a:srgbClr val="BBBEBF"/>
                </a:solidFill>
                <a:effectLst/>
                <a:latin typeface="-apple-system"/>
              </a:rPr>
              <a:t>Сбера</a:t>
            </a:r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 и Яндекса берём ядро — российский LLM с технологией RAG, когда ответ даётся со ссылкой на источник. От платформы </a:t>
            </a:r>
            <a:r>
              <a:rPr lang="ru-RU" b="0" i="0" dirty="0" err="1">
                <a:solidFill>
                  <a:srgbClr val="BBBEBF"/>
                </a:solidFill>
                <a:effectLst/>
                <a:latin typeface="-apple-system"/>
              </a:rPr>
              <a:t>Talmundo</a:t>
            </a:r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 — методологию персональных сценариев по роли. От Microsoft Viva — подход к HR-аналитике. От </a:t>
            </a:r>
            <a:r>
              <a:rPr lang="ru-RU" b="0" i="0" dirty="0" err="1">
                <a:solidFill>
                  <a:srgbClr val="BBBEBF"/>
                </a:solidFill>
                <a:effectLst/>
                <a:latin typeface="-apple-system"/>
              </a:rPr>
              <a:t>ServiceNow</a:t>
            </a:r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 — модель «единый портал плюс бот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 + эскалация к человеку».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И ключевой вывод: все зарубежные решения не проходят по 152-му федеральному закону. Поэтому строим только на российском стеке, в контуре РЖД.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Так рождается «Проводник» — и это эволюция, а не революция. Мы не выбрасываем существующие системы, а связываем и усиливаем их единым ИИ-ядром.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В основе — </a:t>
            </a:r>
            <a:r>
              <a:rPr lang="ru-RU" b="0" i="0" dirty="0" err="1">
                <a:solidFill>
                  <a:srgbClr val="BBBEBF"/>
                </a:solidFill>
                <a:effectLst/>
                <a:latin typeface="-apple-system"/>
              </a:rPr>
              <a:t>Локобот</a:t>
            </a:r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 2.0 на LLM и RAG. Он делает три вещи. Первое — становится единой точкой входа и связывает </a:t>
            </a:r>
            <a:r>
              <a:rPr lang="ru-RU" b="0" i="0" dirty="0" err="1">
                <a:solidFill>
                  <a:srgbClr val="BBBEBF"/>
                </a:solidFill>
                <a:effectLst/>
                <a:latin typeface="-apple-system"/>
              </a:rPr>
              <a:t>Локобот</a:t>
            </a:r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, модуль «Адаптация» и систему обучения между собой. Второе — отвечает со ссылкой на первоисточник, поэтому ответу можно доверять. Третье — знает профессию, полигон и этап адаптации работника, а значит, отвечает персонально, а не одинаково для всех.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Покажу на живом примере. Алексей, двадцать два года, первая неделя помощником машиниста.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Как было: он спрашивает </a:t>
            </a:r>
            <a:r>
              <a:rPr lang="ru-RU" b="0" i="0" dirty="0" err="1">
                <a:solidFill>
                  <a:srgbClr val="BBBEBF"/>
                </a:solidFill>
                <a:effectLst/>
                <a:latin typeface="-apple-system"/>
              </a:rPr>
              <a:t>Локобота</a:t>
            </a:r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 про предрейсовый медосмотр — бот не понимает формулировку. Алексей идёт отвлекать машиниста-инструктора.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Как станет: тот же вопрос — и Проводник даёт точный ответ со ссылкой на регламент именно его депо. А следом сам напоминает: сегодня дедлайн по курсу охраны труда, вот ссылка. Инструктора Алексей не отвлёк ни разу, ни одной задачи не пропустил. Вопрос закрыт за секунды.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Вот как это устроено. В центре — LLM-ядро на российских моделях. Снизу его питают пять источников данных: профиль сотрудника, прогресс по модулю, </a:t>
            </a:r>
            <a:r>
              <a:rPr lang="ru-RU" b="0" i="0" dirty="0" err="1">
                <a:solidFill>
                  <a:srgbClr val="BBBEBF"/>
                </a:solidFill>
                <a:effectLst/>
                <a:latin typeface="-apple-system"/>
              </a:rPr>
              <a:t>логи</a:t>
            </a:r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 бота, пульс-опросы и система обучения. Сверху — три канала: портал, мобильное приложение и голос. Слева работник получает персональные ответы, справа руководитель — аналитику. И всё это внутри защищённого контура РЖД.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Развиваем тремя горизонтами: к 2028-му Проводник отвечает, к 2031-му — ведёт по маршруту, к 2036-му — действует за работника. Подчеркну: всё, что нужно для первого горизонта, — уже зрелые технологии. Мы не обещаем фантастику.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Начинаем не со всей сети, а с пилота: одна профессия — помощник машиниста — на одном полигоне. И только </a:t>
            </a:r>
            <a:r>
              <a:rPr lang="ru-RU" b="0" i="0" dirty="0" err="1">
                <a:solidFill>
                  <a:srgbClr val="BBBEBF"/>
                </a:solidFill>
                <a:effectLst/>
                <a:latin typeface="-apple-system"/>
              </a:rPr>
              <a:t>Локобот</a:t>
            </a:r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 2.0, не вся система сразу.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Почему именно эта профессия: она массовая и дефицитная, жёстко регламентированная — а значит, идеально ложится в RAG, — и с измеримым эффектом. При этом риск умеренный: бот работает в обучающем контуре, а не в управлении движением.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Мы заранее задали два порога. Критерий остановки: если точность ответов ниже 85 процентов. Критерий масштабирования: если бот закрывает не меньше 70 процентов вопросов при удовлетворённости 4 из 5. Пилот честно проверяет гипотезу, а не притворяется успехом.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Теперь деньги. На пилоте решение не окупается — и это правильно: пилот проверяет гипотезы. Он обратим и недорог, работает на существующей команде, без нового отдела.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Экономика разворачивается на масштабе. Основной эффект — снижение текучести первого года: каждый удержанный сотрудник экономит стоимость повторного найма и обучения. При охвате трети приёма это дает чистый эффект около 242 миллионов рублей в год, окупаемость — примерно сто процентов. Важно: мы посчитали это честно, с реальными затратами на инфраструктуру и поддержку, и в деньгах взяли только удержание. Даже пессимистичный сценарий — не убыток.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Три главных риска — и на каждый есть готовый ход.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Галлюцинации ИИ: бот отвечает только из проверенной базы, со ссылкой, а при неуверенности переводит на наставника.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Персональные данные: всё в российском контуре, чувствительное — заработок, переписка — осознанно исключено.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Деньги: пилот обратим, с понятными критериями. Мы рискуем малым, чтобы проверить большое.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Что мы просим. Согласовать пилот на одном полигоне. Через 90 дней у вас будет работающий MVP </a:t>
            </a:r>
            <a:r>
              <a:rPr lang="ru-RU" b="0" i="0" dirty="0" err="1">
                <a:solidFill>
                  <a:srgbClr val="BBBEBF"/>
                </a:solidFill>
                <a:effectLst/>
                <a:latin typeface="-apple-system"/>
              </a:rPr>
              <a:t>Локобота</a:t>
            </a:r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 2.0. Через год — измеримый ответ на вопрос, разворачивать ли экосистему на всю сеть.</a:t>
            </a:r>
          </a:p>
          <a:p>
            <a:pPr algn="l"/>
            <a:r>
              <a:rPr lang="ru-RU" b="0" i="0" dirty="0">
                <a:solidFill>
                  <a:srgbClr val="BBBEBF"/>
                </a:solidFill>
                <a:effectLst/>
                <a:latin typeface="-apple-system"/>
              </a:rPr>
              <a:t>Мы не предлагаем огромную стройку. Мы предлагаем начать с малого, проверяемого шага — сегодня. Спасибо.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5" Type="http://schemas.openxmlformats.org/officeDocument/2006/relationships/image" Target="../media/image12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Relationship Id="rId14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svg"/><Relationship Id="rId18" Type="http://schemas.openxmlformats.org/officeDocument/2006/relationships/image" Target="../media/image48.png"/><Relationship Id="rId26" Type="http://schemas.openxmlformats.org/officeDocument/2006/relationships/image" Target="../media/image12.png"/><Relationship Id="rId3" Type="http://schemas.openxmlformats.org/officeDocument/2006/relationships/image" Target="../media/image33.png"/><Relationship Id="rId21" Type="http://schemas.openxmlformats.org/officeDocument/2006/relationships/image" Target="../media/image51.sv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17" Type="http://schemas.openxmlformats.org/officeDocument/2006/relationships/image" Target="../media/image47.svg"/><Relationship Id="rId25" Type="http://schemas.openxmlformats.org/officeDocument/2006/relationships/image" Target="../media/image55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5.png"/><Relationship Id="rId15" Type="http://schemas.openxmlformats.org/officeDocument/2006/relationships/image" Target="../media/image45.svg"/><Relationship Id="rId23" Type="http://schemas.openxmlformats.org/officeDocument/2006/relationships/image" Target="../media/image53.svg"/><Relationship Id="rId10" Type="http://schemas.openxmlformats.org/officeDocument/2006/relationships/image" Target="../media/image40.svg"/><Relationship Id="rId19" Type="http://schemas.openxmlformats.org/officeDocument/2006/relationships/image" Target="../media/image49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084909"/>
            <a:ext cx="17602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42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ЛОКОБОТ 2.0 · LLM + RAG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43000" y="3789759"/>
            <a:ext cx="114300" cy="20002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4" name="Text 2"/>
          <p:cNvSpPr/>
          <p:nvPr/>
        </p:nvSpPr>
        <p:spPr>
          <a:xfrm>
            <a:off x="1581150" y="3637359"/>
            <a:ext cx="11282363" cy="2240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850" b="1" kern="0" spc="-177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Проводник в страну РЖД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581150" y="6201966"/>
            <a:ext cx="1128236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150" dirty="0">
                <a:solidFill>
                  <a:srgbClr val="AEB6C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Цифровая экосистема адаптации работников до 2036 года на базе ИИ-ассистента «Локобот 2.0»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143000" y="9391650"/>
            <a:ext cx="31452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Команда · Grand Prix ’26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88036" y="9496425"/>
            <a:ext cx="11717685" cy="190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</p:spPr>
      </p:sp>
      <p:sp>
        <p:nvSpPr>
          <p:cNvPr id="8" name="Text 6"/>
          <p:cNvSpPr/>
          <p:nvPr/>
        </p:nvSpPr>
        <p:spPr>
          <a:xfrm>
            <a:off x="16291471" y="9391650"/>
            <a:ext cx="9297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FFFFFF">
                    <a:alpha val="55000"/>
                  </a:srgbClr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01 / 10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85725" cy="10477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52597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27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ПРОБЛЕМА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4924997" cy="1126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42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Три потолка текущей системы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517270" y="704850"/>
            <a:ext cx="381823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7200" b="1" kern="0" spc="-144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119 000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60248" y="1622971"/>
            <a:ext cx="357525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новичков в год проходят через эти системы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20345" y="2404021"/>
            <a:ext cx="7047161" cy="4953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8" name="Text 6"/>
          <p:cNvSpPr/>
          <p:nvPr/>
        </p:nvSpPr>
        <p:spPr>
          <a:xfrm>
            <a:off x="5906095" y="2523083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95120" y="2518321"/>
            <a:ext cx="63722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НЕТ ИНТЕГРАЦИИ · системы не обмениваются данными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952500" y="3127921"/>
            <a:ext cx="5295900" cy="4834979"/>
          </a:xfrm>
          <a:prstGeom prst="roundRect">
            <a:avLst>
              <a:gd name="adj" fmla="val 3152"/>
            </a:avLst>
          </a:prstGeom>
          <a:solidFill>
            <a:srgbClr val="F5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4421535"/>
            <a:ext cx="327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486400" y="4326285"/>
            <a:ext cx="438150" cy="4381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1175" y="443106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4916835"/>
            <a:ext cx="51130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Локобот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276350" y="5274915"/>
            <a:ext cx="51130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устаревший NLP · часто не отвечает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276350" y="5703540"/>
            <a:ext cx="4648200" cy="9525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17" name="Text 14"/>
          <p:cNvSpPr/>
          <p:nvPr/>
        </p:nvSpPr>
        <p:spPr>
          <a:xfrm>
            <a:off x="1276350" y="5884515"/>
            <a:ext cx="4787646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Новичок переспрашивает по-разному или уходит искать ответ у коллег, отвлекая их от работы.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496050" y="3127921"/>
            <a:ext cx="5295900" cy="4834979"/>
          </a:xfrm>
          <a:prstGeom prst="roundRect">
            <a:avLst>
              <a:gd name="adj" fmla="val 3152"/>
            </a:avLst>
          </a:prstGeom>
          <a:solidFill>
            <a:srgbClr val="F5F5F9"/>
          </a:solidFill>
          <a:ln/>
        </p:spPr>
      </p:sp>
      <p:sp>
        <p:nvSpPr>
          <p:cNvPr id="19" name="Text 16"/>
          <p:cNvSpPr/>
          <p:nvPr/>
        </p:nvSpPr>
        <p:spPr>
          <a:xfrm>
            <a:off x="6819900" y="4421535"/>
            <a:ext cx="327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29950" y="4326285"/>
            <a:ext cx="438150" cy="4381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34725" y="4431060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19900" y="4916835"/>
            <a:ext cx="51130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Модуль «Адаптация»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6819900" y="5274915"/>
            <a:ext cx="51130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один чек-лист на всех</a:t>
            </a:r>
            <a:endParaRPr lang="en-US" sz="1650" dirty="0"/>
          </a:p>
        </p:txBody>
      </p:sp>
      <p:sp>
        <p:nvSpPr>
          <p:cNvPr id="24" name="Shape 20"/>
          <p:cNvSpPr/>
          <p:nvPr/>
        </p:nvSpPr>
        <p:spPr>
          <a:xfrm>
            <a:off x="6819900" y="5703540"/>
            <a:ext cx="4648200" cy="9525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25" name="Text 21"/>
          <p:cNvSpPr/>
          <p:nvPr/>
        </p:nvSpPr>
        <p:spPr>
          <a:xfrm>
            <a:off x="6819900" y="5884515"/>
            <a:ext cx="4787646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Помощнику машиниста показывают офисные задачи, к его роли отношения не имеющие.</a:t>
            </a:r>
            <a:endParaRPr lang="en-US" sz="1650" dirty="0"/>
          </a:p>
        </p:txBody>
      </p:sp>
      <p:sp>
        <p:nvSpPr>
          <p:cNvPr id="26" name="Shape 22"/>
          <p:cNvSpPr/>
          <p:nvPr/>
        </p:nvSpPr>
        <p:spPr>
          <a:xfrm>
            <a:off x="12039600" y="3127921"/>
            <a:ext cx="5295900" cy="4834979"/>
          </a:xfrm>
          <a:prstGeom prst="roundRect">
            <a:avLst>
              <a:gd name="adj" fmla="val 3152"/>
            </a:avLst>
          </a:prstGeom>
          <a:solidFill>
            <a:srgbClr val="F5F5F9"/>
          </a:solidFill>
          <a:ln/>
        </p:spPr>
      </p:sp>
      <p:sp>
        <p:nvSpPr>
          <p:cNvPr id="27" name="Text 23"/>
          <p:cNvSpPr/>
          <p:nvPr/>
        </p:nvSpPr>
        <p:spPr>
          <a:xfrm>
            <a:off x="12363450" y="4568130"/>
            <a:ext cx="327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28" name="Shape 24"/>
          <p:cNvSpPr/>
          <p:nvPr/>
        </p:nvSpPr>
        <p:spPr>
          <a:xfrm>
            <a:off x="16573500" y="4472880"/>
            <a:ext cx="438150" cy="4381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678275" y="4577655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2363450" y="5063430"/>
            <a:ext cx="51130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СДО + КУ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12363450" y="5421511"/>
            <a:ext cx="51130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общие курсы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12363450" y="5850136"/>
            <a:ext cx="4648200" cy="9525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33" name="Text 28"/>
          <p:cNvSpPr/>
          <p:nvPr/>
        </p:nvSpPr>
        <p:spPr>
          <a:xfrm>
            <a:off x="12363450" y="6031111"/>
            <a:ext cx="4787646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Курсы не привязаны к профессии и этапу адаптации работника.</a:t>
            </a:r>
            <a:endParaRPr lang="en-US" sz="165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7750" y="8096250"/>
            <a:ext cx="8572500" cy="62865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971455" y="8743950"/>
            <a:ext cx="419100" cy="4191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6705" y="8839200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523905" y="8820150"/>
            <a:ext cx="85719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Работник заходит в каждую систему отдельно — единого контекста нет.</a:t>
            </a:r>
            <a:endParaRPr lang="en-US" sz="1725" dirty="0"/>
          </a:p>
        </p:txBody>
      </p:sp>
      <p:sp>
        <p:nvSpPr>
          <p:cNvPr id="38" name="Text 31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9" name="Shape 32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13"/>
            <a:tile tx="0" ty="0" sx="100000" sy="100000" flip="none" algn="tl"/>
          </a:blipFill>
          <a:ln/>
        </p:spPr>
      </p:sp>
      <p:sp>
        <p:nvSpPr>
          <p:cNvPr id="40" name="Text 33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02 / 10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9220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27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БЕНЧМАРК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9220855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42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Взяли лучшее, отсекли лишнее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953667"/>
            <a:ext cx="5270450" cy="5894933"/>
          </a:xfrm>
          <a:prstGeom prst="roundRect">
            <a:avLst>
              <a:gd name="adj" fmla="val 2892"/>
            </a:avLst>
          </a:prstGeom>
          <a:ln w="9525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5875" y="2306092"/>
            <a:ext cx="50640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179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ЯДРО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285875" y="2610892"/>
            <a:ext cx="50640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Сбер · Яндекс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85875" y="4126855"/>
            <a:ext cx="361950" cy="36195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6838" y="4207818"/>
            <a:ext cx="200025" cy="2000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1175" y="4126855"/>
            <a:ext cx="423165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Берём: </a:t>
            </a: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российское LLM-ядро с ответом со ссылкой на источник.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285875" y="4942136"/>
            <a:ext cx="361950" cy="361950"/>
          </a:xfrm>
          <a:prstGeom prst="ellipse">
            <a:avLst/>
          </a:prstGeom>
          <a:solidFill>
            <a:srgbClr val="EEF0F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6363" y="5032623"/>
            <a:ext cx="180975" cy="1809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1175" y="4942136"/>
            <a:ext cx="423165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Отвергаем: </a:t>
            </a: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привязку к чужой экосистеме.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1285875" y="5757416"/>
            <a:ext cx="361950" cy="3619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6363" y="5847904"/>
            <a:ext cx="180975" cy="1809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1175" y="5757416"/>
            <a:ext cx="4231652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Адаптируем: </a:t>
            </a: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дообучаем на регламентах и оргструктуре РЖД, связываем с этапом адаптации.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508700" y="1953667"/>
            <a:ext cx="5270599" cy="5894933"/>
          </a:xfrm>
          <a:prstGeom prst="roundRect">
            <a:avLst>
              <a:gd name="adj" fmla="val 2892"/>
            </a:avLst>
          </a:prstGeom>
          <a:ln w="9525">
            <a:solidFill>
              <a:srgbClr val="E4E7E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842075" y="2306092"/>
            <a:ext cx="50642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179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МЕТОДОЛОГИЯ</a:t>
            </a:r>
            <a:endParaRPr lang="en-US" sz="1275" dirty="0"/>
          </a:p>
        </p:txBody>
      </p:sp>
      <p:sp>
        <p:nvSpPr>
          <p:cNvPr id="19" name="Text 14"/>
          <p:cNvSpPr/>
          <p:nvPr/>
        </p:nvSpPr>
        <p:spPr>
          <a:xfrm>
            <a:off x="6842075" y="2610892"/>
            <a:ext cx="506423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Talmundo</a:t>
            </a:r>
            <a:endParaRPr lang="en-US" sz="2700" dirty="0"/>
          </a:p>
        </p:txBody>
      </p:sp>
      <p:sp>
        <p:nvSpPr>
          <p:cNvPr id="20" name="Shape 15"/>
          <p:cNvSpPr/>
          <p:nvPr/>
        </p:nvSpPr>
        <p:spPr>
          <a:xfrm>
            <a:off x="6842075" y="4239220"/>
            <a:ext cx="361950" cy="36195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23038" y="4320183"/>
            <a:ext cx="200025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7375" y="4239220"/>
            <a:ext cx="4231806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Берём: </a:t>
            </a: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персональные сценарии адаптации по роли.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6842075" y="5054501"/>
            <a:ext cx="361950" cy="361950"/>
          </a:xfrm>
          <a:prstGeom prst="ellipse">
            <a:avLst/>
          </a:prstGeom>
          <a:solidFill>
            <a:srgbClr val="EEF0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32563" y="5144988"/>
            <a:ext cx="180975" cy="1809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37375" y="5054501"/>
            <a:ext cx="302186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Отвергаем: </a:t>
            </a: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зарубежное ПО.</a:t>
            </a:r>
            <a:endParaRPr lang="en-US" sz="1650" dirty="0"/>
          </a:p>
        </p:txBody>
      </p:sp>
      <p:sp>
        <p:nvSpPr>
          <p:cNvPr id="26" name="Shape 19"/>
          <p:cNvSpPr/>
          <p:nvPr/>
        </p:nvSpPr>
        <p:spPr>
          <a:xfrm>
            <a:off x="6842075" y="5645051"/>
            <a:ext cx="361950" cy="3619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32563" y="5735538"/>
            <a:ext cx="180975" cy="1809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337375" y="5645051"/>
            <a:ext cx="4231806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Адаптируем: </a:t>
            </a: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переносим логику сценариев в модуль «Адаптация» вместо единого чек-листа.</a:t>
            </a:r>
            <a:endParaRPr lang="en-US" sz="1650" dirty="0"/>
          </a:p>
        </p:txBody>
      </p:sp>
      <p:sp>
        <p:nvSpPr>
          <p:cNvPr id="29" name="Shape 21"/>
          <p:cNvSpPr/>
          <p:nvPr/>
        </p:nvSpPr>
        <p:spPr>
          <a:xfrm>
            <a:off x="12065050" y="1953667"/>
            <a:ext cx="5270450" cy="5894933"/>
          </a:xfrm>
          <a:prstGeom prst="roundRect">
            <a:avLst>
              <a:gd name="adj" fmla="val 2892"/>
            </a:avLst>
          </a:prstGeom>
          <a:ln w="9525">
            <a:solidFill>
              <a:srgbClr val="E4E7EE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12398425" y="2306092"/>
            <a:ext cx="50640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179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АНАЛИТИКА</a:t>
            </a:r>
            <a:endParaRPr lang="en-US" sz="1275" dirty="0"/>
          </a:p>
        </p:txBody>
      </p:sp>
      <p:sp>
        <p:nvSpPr>
          <p:cNvPr id="31" name="Text 23"/>
          <p:cNvSpPr/>
          <p:nvPr/>
        </p:nvSpPr>
        <p:spPr>
          <a:xfrm>
            <a:off x="12398425" y="2610892"/>
            <a:ext cx="50640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Microsoft Viva</a:t>
            </a:r>
            <a:endParaRPr lang="en-US" sz="2700" dirty="0"/>
          </a:p>
        </p:txBody>
      </p:sp>
      <p:sp>
        <p:nvSpPr>
          <p:cNvPr id="32" name="Shape 24"/>
          <p:cNvSpPr/>
          <p:nvPr/>
        </p:nvSpPr>
        <p:spPr>
          <a:xfrm>
            <a:off x="12398425" y="4385816"/>
            <a:ext cx="361950" cy="36195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479387" y="4466779"/>
            <a:ext cx="200025" cy="2000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2893725" y="4385816"/>
            <a:ext cx="423165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Берём: </a:t>
            </a: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подход к HR-аналитике и дашбордам.</a:t>
            </a:r>
            <a:endParaRPr lang="en-US" sz="1650" dirty="0"/>
          </a:p>
        </p:txBody>
      </p:sp>
      <p:sp>
        <p:nvSpPr>
          <p:cNvPr id="35" name="Shape 26"/>
          <p:cNvSpPr/>
          <p:nvPr/>
        </p:nvSpPr>
        <p:spPr>
          <a:xfrm>
            <a:off x="12398425" y="5201096"/>
            <a:ext cx="361950" cy="361950"/>
          </a:xfrm>
          <a:prstGeom prst="ellipse">
            <a:avLst/>
          </a:prstGeom>
          <a:solidFill>
            <a:srgbClr val="EEF0F5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488912" y="5291584"/>
            <a:ext cx="180975" cy="18097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2893725" y="5201096"/>
            <a:ext cx="402010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Отвергаем: </a:t>
            </a: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облако вне контура РЖД.</a:t>
            </a:r>
            <a:endParaRPr lang="en-US" sz="1650" dirty="0"/>
          </a:p>
        </p:txBody>
      </p:sp>
      <p:sp>
        <p:nvSpPr>
          <p:cNvPr id="38" name="Shape 28"/>
          <p:cNvSpPr/>
          <p:nvPr/>
        </p:nvSpPr>
        <p:spPr>
          <a:xfrm>
            <a:off x="12398425" y="5791646"/>
            <a:ext cx="361950" cy="3619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488912" y="5882134"/>
            <a:ext cx="180975" cy="18097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2893725" y="5791646"/>
            <a:ext cx="423165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Адаптируем: </a:t>
            </a: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воспроизводим HR-аналитику внутри контура РЖД.</a:t>
            </a:r>
            <a:endParaRPr lang="en-US" sz="1650" dirty="0"/>
          </a:p>
        </p:txBody>
      </p:sp>
      <p:sp>
        <p:nvSpPr>
          <p:cNvPr id="41" name="Shape 30"/>
          <p:cNvSpPr/>
          <p:nvPr/>
        </p:nvSpPr>
        <p:spPr>
          <a:xfrm>
            <a:off x="952500" y="8134350"/>
            <a:ext cx="16383000" cy="1028700"/>
          </a:xfrm>
          <a:prstGeom prst="roundRect">
            <a:avLst>
              <a:gd name="adj" fmla="val 14815"/>
            </a:avLst>
          </a:prstGeom>
          <a:solidFill>
            <a:srgbClr val="16213E"/>
          </a:solidFill>
          <a:ln/>
        </p:spPr>
      </p:sp>
      <p:sp>
        <p:nvSpPr>
          <p:cNvPr id="42" name="Shape 31"/>
          <p:cNvSpPr/>
          <p:nvPr/>
        </p:nvSpPr>
        <p:spPr>
          <a:xfrm>
            <a:off x="1314450" y="8401050"/>
            <a:ext cx="76200" cy="495300"/>
          </a:xfrm>
          <a:prstGeom prst="roundRect">
            <a:avLst>
              <a:gd name="adj" fmla="val 37500"/>
            </a:avLst>
          </a:prstGeom>
          <a:solidFill>
            <a:srgbClr val="E21A1A"/>
          </a:solidFill>
          <a:ln/>
        </p:spPr>
      </p:sp>
      <p:sp>
        <p:nvSpPr>
          <p:cNvPr id="43" name="Text 32"/>
          <p:cNvSpPr/>
          <p:nvPr/>
        </p:nvSpPr>
        <p:spPr>
          <a:xfrm>
            <a:off x="1600200" y="8469213"/>
            <a:ext cx="12800886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Зарубежные решения не проходят по </a:t>
            </a:r>
            <a:r>
              <a:rPr lang="en-US" sz="2175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152-ФЗ </a:t>
            </a:r>
            <a:r>
              <a:rPr lang="en-US" sz="217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 строим только на российском стеке.</a:t>
            </a:r>
            <a:endParaRPr lang="en-US" sz="2175" dirty="0"/>
          </a:p>
        </p:txBody>
      </p:sp>
      <p:sp>
        <p:nvSpPr>
          <p:cNvPr id="44" name="Text 33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45" name="Shape 34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15"/>
            <a:tile tx="0" ty="0" sx="100000" sy="100000" flip="none" algn="tl"/>
          </a:blipFill>
          <a:ln/>
        </p:spPr>
      </p:sp>
      <p:sp>
        <p:nvSpPr>
          <p:cNvPr id="46" name="Text 35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03 / 10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112917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27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РЕШЕНИЕ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11291798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42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Проводник — эволюция, не революция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896517"/>
            <a:ext cx="5270450" cy="5835997"/>
          </a:xfrm>
          <a:prstGeom prst="roundRect">
            <a:avLst>
              <a:gd name="adj" fmla="val 3253"/>
            </a:avLst>
          </a:prstGeom>
          <a:solidFill>
            <a:srgbClr val="F5F5F9"/>
          </a:solidFill>
          <a:ln/>
        </p:spPr>
      </p:sp>
      <p:sp>
        <p:nvSpPr>
          <p:cNvPr id="6" name="Shape 4"/>
          <p:cNvSpPr/>
          <p:nvPr/>
        </p:nvSpPr>
        <p:spPr>
          <a:xfrm>
            <a:off x="1295400" y="3527822"/>
            <a:ext cx="571500" cy="5715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8275" y="3670697"/>
            <a:ext cx="285750" cy="285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38350" y="3565922"/>
            <a:ext cx="6706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01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295400" y="4346972"/>
            <a:ext cx="504311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Единая точка входа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5400" y="4830812"/>
            <a:ext cx="472219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Локобот 2.0 на LLM+RAG становится единой точкой входа и связывает Локобот, модуль «Адаптация» и СДО между собой.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6508700" y="1896517"/>
            <a:ext cx="5270599" cy="5835997"/>
          </a:xfrm>
          <a:prstGeom prst="roundRect">
            <a:avLst>
              <a:gd name="adj" fmla="val 3253"/>
            </a:avLst>
          </a:prstGeom>
          <a:solidFill>
            <a:srgbClr val="F5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851600" y="3527822"/>
            <a:ext cx="571500" cy="5715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4475" y="3670697"/>
            <a:ext cx="285750" cy="285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94550" y="3565922"/>
            <a:ext cx="6706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02</a:t>
            </a:r>
            <a:endParaRPr lang="en-US" sz="3900" dirty="0"/>
          </a:p>
        </p:txBody>
      </p:sp>
      <p:sp>
        <p:nvSpPr>
          <p:cNvPr id="15" name="Text 11"/>
          <p:cNvSpPr/>
          <p:nvPr/>
        </p:nvSpPr>
        <p:spPr>
          <a:xfrm>
            <a:off x="6851600" y="4346972"/>
            <a:ext cx="5043279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Ответ, которому доверяют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851600" y="4830812"/>
            <a:ext cx="4722343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Каждый ответ подкреплён ссылкой на регламент или документ — работник видит первоисточник и доверяет системе.</a:t>
            </a:r>
            <a:endParaRPr lang="en-US" sz="1725" dirty="0"/>
          </a:p>
        </p:txBody>
      </p:sp>
      <p:sp>
        <p:nvSpPr>
          <p:cNvPr id="17" name="Shape 13"/>
          <p:cNvSpPr/>
          <p:nvPr/>
        </p:nvSpPr>
        <p:spPr>
          <a:xfrm>
            <a:off x="12065050" y="1896517"/>
            <a:ext cx="5270450" cy="5835997"/>
          </a:xfrm>
          <a:prstGeom prst="roundRect">
            <a:avLst>
              <a:gd name="adj" fmla="val 3253"/>
            </a:avLst>
          </a:prstGeom>
          <a:solidFill>
            <a:srgbClr val="F5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12407950" y="3686621"/>
            <a:ext cx="571500" cy="5715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0825" y="3829496"/>
            <a:ext cx="285750" cy="2857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150900" y="3724721"/>
            <a:ext cx="6706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03</a:t>
            </a:r>
            <a:endParaRPr lang="en-US" sz="3900" dirty="0"/>
          </a:p>
        </p:txBody>
      </p:sp>
      <p:sp>
        <p:nvSpPr>
          <p:cNvPr id="21" name="Text 16"/>
          <p:cNvSpPr/>
          <p:nvPr/>
        </p:nvSpPr>
        <p:spPr>
          <a:xfrm>
            <a:off x="12407950" y="4505771"/>
            <a:ext cx="504311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Знает контекст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12407950" y="4989612"/>
            <a:ext cx="4722190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Система учитывает профессию, полигон и этап адаптации, поэтому ответы и подсказки персональны.</a:t>
            </a:r>
            <a:endParaRPr lang="en-US" sz="1725" dirty="0"/>
          </a:p>
        </p:txBody>
      </p:sp>
      <p:sp>
        <p:nvSpPr>
          <p:cNvPr id="23" name="Shape 18"/>
          <p:cNvSpPr/>
          <p:nvPr/>
        </p:nvSpPr>
        <p:spPr>
          <a:xfrm>
            <a:off x="952500" y="7999214"/>
            <a:ext cx="16383000" cy="1163836"/>
          </a:xfrm>
          <a:prstGeom prst="roundRect">
            <a:avLst>
              <a:gd name="adj" fmla="val 13095"/>
            </a:avLst>
          </a:prstGeom>
          <a:solidFill>
            <a:srgbClr val="16213E"/>
          </a:solidFill>
          <a:ln/>
        </p:spPr>
      </p:sp>
      <p:sp>
        <p:nvSpPr>
          <p:cNvPr id="24" name="Shape 19"/>
          <p:cNvSpPr/>
          <p:nvPr/>
        </p:nvSpPr>
        <p:spPr>
          <a:xfrm>
            <a:off x="1314450" y="8333482"/>
            <a:ext cx="76200" cy="495300"/>
          </a:xfrm>
          <a:prstGeom prst="roundRect">
            <a:avLst>
              <a:gd name="adj" fmla="val 37500"/>
            </a:avLst>
          </a:prstGeom>
          <a:solidFill>
            <a:srgbClr val="E21A1A"/>
          </a:solidFill>
          <a:ln/>
        </p:spPr>
      </p:sp>
      <p:sp>
        <p:nvSpPr>
          <p:cNvPr id="25" name="Text 20"/>
          <p:cNvSpPr/>
          <p:nvPr/>
        </p:nvSpPr>
        <p:spPr>
          <a:xfrm>
            <a:off x="1600200" y="8246864"/>
            <a:ext cx="1583455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Мы не заменяем существующие системы, а </a:t>
            </a:r>
            <a:r>
              <a:rPr lang="en-US" sz="2025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связываем и усиливаем </a:t>
            </a:r>
            <a:r>
              <a:rPr lang="en-US" sz="202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их единым ИИ-ядром — это дешевле и вызывает меньше сопротивления.</a:t>
            </a:r>
            <a:endParaRPr lang="en-US" sz="2025" dirty="0"/>
          </a:p>
        </p:txBody>
      </p:sp>
      <p:sp>
        <p:nvSpPr>
          <p:cNvPr id="26" name="Text 21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  <a:ln/>
        </p:spPr>
      </p:sp>
      <p:sp>
        <p:nvSpPr>
          <p:cNvPr id="28" name="Text 23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04 / 10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1102314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27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ПОЛЬЗОВАТЕЛЬСКИЙ СЦЕНАРИЙ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11023149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42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День помощника машиниста Алексея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896517"/>
            <a:ext cx="8048625" cy="6066383"/>
          </a:xfrm>
          <a:prstGeom prst="roundRect">
            <a:avLst>
              <a:gd name="adj" fmla="val 2826"/>
            </a:avLst>
          </a:prstGeom>
          <a:solidFill>
            <a:srgbClr val="F5F5F9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239417"/>
            <a:ext cx="80152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БЫЛО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733973" y="2706142"/>
            <a:ext cx="5886152" cy="571500"/>
          </a:xfrm>
          <a:prstGeom prst="roundRect">
            <a:avLst>
              <a:gd name="adj" fmla="val 30000"/>
            </a:avLst>
          </a:prstGeom>
          <a:solidFill>
            <a:srgbClr val="E1E4EC"/>
          </a:solidFill>
          <a:ln/>
        </p:spPr>
      </p:sp>
      <p:sp>
        <p:nvSpPr>
          <p:cNvPr id="8" name="Text 6"/>
          <p:cNvSpPr/>
          <p:nvPr/>
        </p:nvSpPr>
        <p:spPr>
          <a:xfrm>
            <a:off x="2943523" y="2858542"/>
            <a:ext cx="56436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Какой порядок приёмки локомотива в моём депо?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333500" y="3430042"/>
            <a:ext cx="4260056" cy="590550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E1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3591967"/>
            <a:ext cx="39497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3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 понял вопрос. Уточните запрос.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4335363" y="4172992"/>
            <a:ext cx="4284762" cy="571500"/>
          </a:xfrm>
          <a:prstGeom prst="roundRect">
            <a:avLst>
              <a:gd name="adj" fmla="val 30000"/>
            </a:avLst>
          </a:prstGeom>
          <a:solidFill>
            <a:srgbClr val="E1E4EC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913" y="4325392"/>
            <a:ext cx="39942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Приёмка локомотива, депо ТЧЭ-12?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333500" y="4896892"/>
            <a:ext cx="3358455" cy="590550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E1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2575" y="5058817"/>
            <a:ext cx="30210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3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Обратитесь к инструктору.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333500" y="7324279"/>
            <a:ext cx="7505224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↳ Алексей теряет время и идёт искать наставника.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9286875" y="1896517"/>
            <a:ext cx="8048625" cy="6066383"/>
          </a:xfrm>
          <a:prstGeom prst="roundRect">
            <a:avLst>
              <a:gd name="adj" fmla="val 2826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9667875" y="2239417"/>
            <a:ext cx="80152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FF6B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СТАЛО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1068348" y="2706142"/>
            <a:ext cx="5886152" cy="571500"/>
          </a:xfrm>
          <a:prstGeom prst="roundRect">
            <a:avLst>
              <a:gd name="adj" fmla="val 30000"/>
            </a:avLst>
          </a:prstGeom>
          <a:solidFill>
            <a:srgbClr val="2A3752"/>
          </a:solidFill>
          <a:ln/>
        </p:spPr>
      </p:sp>
      <p:sp>
        <p:nvSpPr>
          <p:cNvPr id="19" name="Text 17"/>
          <p:cNvSpPr/>
          <p:nvPr/>
        </p:nvSpPr>
        <p:spPr>
          <a:xfrm>
            <a:off x="11277898" y="2858542"/>
            <a:ext cx="56436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Какой порядок приёмки локомотива в моём депо?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9667875" y="3430042"/>
            <a:ext cx="6977063" cy="874216"/>
          </a:xfrm>
          <a:prstGeom prst="roundRect">
            <a:avLst>
              <a:gd name="adj" fmla="val 19612"/>
            </a:avLst>
          </a:prstGeom>
          <a:solidFill>
            <a:srgbClr val="E2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9877425" y="3582442"/>
            <a:ext cx="6767274" cy="60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25" dirty="0">
                <a:solidFill>
                  <a:srgbClr val="FFFFFF"/>
                </a:solidFill>
                <a:highlight>
                  <a:srgbClr val="E21A1A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Порядок — по регламенту вашего депо. </a:t>
            </a:r>
            <a:r>
              <a:rPr lang="en-US" sz="135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↗ Инструкция ТЧЭ-12, п. 4.2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9667875" y="4456658"/>
            <a:ext cx="6977063" cy="874216"/>
          </a:xfrm>
          <a:prstGeom prst="roundRect">
            <a:avLst>
              <a:gd name="adj" fmla="val 19612"/>
            </a:avLst>
          </a:prstGeom>
          <a:solidFill>
            <a:srgbClr val="2A3752"/>
          </a:solidFill>
          <a:ln/>
        </p:spPr>
      </p:sp>
      <p:sp>
        <p:nvSpPr>
          <p:cNvPr id="23" name="Text 21"/>
          <p:cNvSpPr/>
          <p:nvPr/>
        </p:nvSpPr>
        <p:spPr>
          <a:xfrm>
            <a:off x="9877425" y="4609058"/>
            <a:ext cx="6767274" cy="60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25" dirty="0">
                <a:solidFill>
                  <a:srgbClr val="FFFFFF"/>
                </a:solidFill>
                <a:highlight>
                  <a:srgbClr val="2A3752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 сразу: сегодня дедлайн по курсу «Охрана труда» — </a:t>
            </a:r>
            <a:r>
              <a:rPr lang="en-US" sz="135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↗ вот ссылка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9667875" y="7324279"/>
            <a:ext cx="7505224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AEB6C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↳ Точный ответ за секунды — и напоминание вовремя.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952500" y="8210550"/>
            <a:ext cx="16383000" cy="9525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76350" y="8439150"/>
            <a:ext cx="495300" cy="4953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0650" y="8553450"/>
            <a:ext cx="26670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962150" y="8525768"/>
            <a:ext cx="1472710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Результат: </a:t>
            </a:r>
            <a:r>
              <a:rPr lang="en-US" sz="19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новичок получает точный ответ за секунды, не отвлекает инструктора и не пропускает обучение.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0" name="Shape 27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/>
        </p:spPr>
      </p:sp>
      <p:sp>
        <p:nvSpPr>
          <p:cNvPr id="31" name="Text 28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05 / 10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8580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609600"/>
            <a:ext cx="105868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27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АРХИТЕКТУРА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933450"/>
            <a:ext cx="10586859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42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Единая платформа вокруг LLM-ядра</a:t>
            </a:r>
            <a:endParaRPr lang="en-US" sz="4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629817"/>
            <a:ext cx="16383000" cy="7124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57750" y="1686967"/>
            <a:ext cx="2476500" cy="876300"/>
          </a:xfrm>
          <a:prstGeom prst="roundRect">
            <a:avLst>
              <a:gd name="adj" fmla="val 15217"/>
            </a:avLst>
          </a:prstGeom>
          <a:solidFill>
            <a:srgbClr val="16213E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72175" y="1844129"/>
            <a:ext cx="247650" cy="2476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7381" y="2148929"/>
            <a:ext cx="8334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Портал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905750" y="1686967"/>
            <a:ext cx="2476500" cy="876300"/>
          </a:xfrm>
          <a:prstGeom prst="roundRect">
            <a:avLst>
              <a:gd name="adj" fmla="val 15217"/>
            </a:avLst>
          </a:prstGeom>
          <a:solidFill>
            <a:srgbClr val="16213E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0175" y="1715542"/>
            <a:ext cx="247650" cy="2476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05750" y="2020342"/>
            <a:ext cx="2552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Мобильное приложение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10953750" y="1686967"/>
            <a:ext cx="2476500" cy="876300"/>
          </a:xfrm>
          <a:prstGeom prst="roundRect">
            <a:avLst>
              <a:gd name="adj" fmla="val 15217"/>
            </a:avLst>
          </a:prstGeom>
          <a:solidFill>
            <a:srgbClr val="16213E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68175" y="1844129"/>
            <a:ext cx="247650" cy="2476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96576" y="2148929"/>
            <a:ext cx="6670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Голос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6667500" y="4487317"/>
            <a:ext cx="4953000" cy="1428750"/>
          </a:xfrm>
          <a:prstGeom prst="roundRect">
            <a:avLst>
              <a:gd name="adj" fmla="val 12000"/>
            </a:avLst>
          </a:prstGeom>
          <a:solidFill>
            <a:srgbClr val="E21A1A"/>
          </a:solidFill>
          <a:ln/>
          <a:effectLst>
            <a:outerShdw blurRad="381000" dist="133350" dir="5400000" algn="bl" rotWithShape="0">
              <a:srgbClr val="E21A1A">
                <a:alpha val="28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8019477" y="4673054"/>
            <a:ext cx="224889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LLM-ядро</a:t>
            </a:r>
            <a:endParaRPr lang="en-US" sz="3300" dirty="0"/>
          </a:p>
        </p:txBody>
      </p:sp>
      <p:sp>
        <p:nvSpPr>
          <p:cNvPr id="17" name="Text 11"/>
          <p:cNvSpPr/>
          <p:nvPr/>
        </p:nvSpPr>
        <p:spPr>
          <a:xfrm>
            <a:off x="7290465" y="5168354"/>
            <a:ext cx="37070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GigaChat / YandexGPT + RAG</a:t>
            </a:r>
            <a:endParaRPr lang="en-US" sz="1875" dirty="0"/>
          </a:p>
        </p:txBody>
      </p:sp>
      <p:sp>
        <p:nvSpPr>
          <p:cNvPr id="18" name="Text 12"/>
          <p:cNvSpPr/>
          <p:nvPr/>
        </p:nvSpPr>
        <p:spPr>
          <a:xfrm>
            <a:off x="7378214" y="5520779"/>
            <a:ext cx="353157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>
                    <a:alpha val="88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персональный контекст · знания РЖД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1476375" y="4506367"/>
            <a:ext cx="723900" cy="7239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7825" y="4677817"/>
            <a:ext cx="381000" cy="3810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18022" y="5325517"/>
            <a:ext cx="11168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Работник</a:t>
            </a:r>
            <a:endParaRPr lang="en-US" sz="1725" dirty="0"/>
          </a:p>
        </p:txBody>
      </p:sp>
      <p:sp>
        <p:nvSpPr>
          <p:cNvPr id="22" name="Shape 15"/>
          <p:cNvSpPr/>
          <p:nvPr/>
        </p:nvSpPr>
        <p:spPr>
          <a:xfrm>
            <a:off x="3048000" y="4811167"/>
            <a:ext cx="2184797" cy="3429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23" name="Text 16"/>
          <p:cNvSpPr/>
          <p:nvPr/>
        </p:nvSpPr>
        <p:spPr>
          <a:xfrm>
            <a:off x="3200400" y="4877842"/>
            <a:ext cx="19561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персональные ответы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16087725" y="4506367"/>
            <a:ext cx="723900" cy="7239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259175" y="4677817"/>
            <a:ext cx="381000" cy="381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601950" y="5325517"/>
            <a:ext cx="16954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HR / руководитель</a:t>
            </a:r>
            <a:endParaRPr lang="en-US" sz="1650" dirty="0"/>
          </a:p>
        </p:txBody>
      </p:sp>
      <p:sp>
        <p:nvSpPr>
          <p:cNvPr id="27" name="Shape 19"/>
          <p:cNvSpPr/>
          <p:nvPr/>
        </p:nvSpPr>
        <p:spPr>
          <a:xfrm>
            <a:off x="12630150" y="4811167"/>
            <a:ext cx="2049512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13E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12792075" y="4887367"/>
            <a:ext cx="180186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аналитика-дашборд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133350" y="6811417"/>
            <a:ext cx="18021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75" kern="0" spc="179" dirty="0">
                <a:solidFill>
                  <a:srgbClr val="9AA2B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СЛОЙ ДАННЫХ · 5 ИСТОЧНИКОВ</a:t>
            </a:r>
            <a:endParaRPr lang="en-US" sz="1275" dirty="0"/>
          </a:p>
        </p:txBody>
      </p:sp>
      <p:sp>
        <p:nvSpPr>
          <p:cNvPr id="30" name="Shape 22"/>
          <p:cNvSpPr/>
          <p:nvPr/>
        </p:nvSpPr>
        <p:spPr>
          <a:xfrm>
            <a:off x="3619500" y="7154317"/>
            <a:ext cx="1924050" cy="1162050"/>
          </a:xfrm>
          <a:prstGeom prst="roundRect">
            <a:avLst>
              <a:gd name="adj" fmla="val 11475"/>
            </a:avLst>
          </a:prstGeom>
          <a:solidFill>
            <a:srgbClr val="F5F5F9"/>
          </a:solidFill>
          <a:ln w="9525">
            <a:solidFill>
              <a:srgbClr val="E4E7EE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38650" y="7406729"/>
            <a:ext cx="285750" cy="2857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937695" y="7806779"/>
            <a:ext cx="14162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HR-профиль</a:t>
            </a:r>
            <a:endParaRPr lang="en-US" sz="1650" dirty="0"/>
          </a:p>
        </p:txBody>
      </p:sp>
      <p:sp>
        <p:nvSpPr>
          <p:cNvPr id="33" name="Shape 24"/>
          <p:cNvSpPr/>
          <p:nvPr/>
        </p:nvSpPr>
        <p:spPr>
          <a:xfrm>
            <a:off x="5905500" y="7154317"/>
            <a:ext cx="1924050" cy="1162050"/>
          </a:xfrm>
          <a:prstGeom prst="roundRect">
            <a:avLst>
              <a:gd name="adj" fmla="val 11475"/>
            </a:avLst>
          </a:prstGeom>
          <a:solidFill>
            <a:srgbClr val="F5F5F9"/>
          </a:solidFill>
          <a:ln w="9525">
            <a:solidFill>
              <a:srgbClr val="E4E7EE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24650" y="7420124"/>
            <a:ext cx="285750" cy="2857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868568" y="7820174"/>
            <a:ext cx="1997765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Прогресс модуля</a:t>
            </a:r>
            <a:endParaRPr lang="en-US" sz="1650" dirty="0"/>
          </a:p>
        </p:txBody>
      </p:sp>
      <p:sp>
        <p:nvSpPr>
          <p:cNvPr id="36" name="Shape 26"/>
          <p:cNvSpPr/>
          <p:nvPr/>
        </p:nvSpPr>
        <p:spPr>
          <a:xfrm>
            <a:off x="8191500" y="7154317"/>
            <a:ext cx="1924050" cy="1162050"/>
          </a:xfrm>
          <a:prstGeom prst="roundRect">
            <a:avLst>
              <a:gd name="adj" fmla="val 11475"/>
            </a:avLst>
          </a:prstGeom>
          <a:solidFill>
            <a:srgbClr val="F5F5F9"/>
          </a:solidFill>
          <a:ln w="9525">
            <a:solidFill>
              <a:srgbClr val="E4E7EE"/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10650" y="7406729"/>
            <a:ext cx="285750" cy="28575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639621" y="7806779"/>
            <a:ext cx="11038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Логи бота</a:t>
            </a:r>
            <a:endParaRPr lang="en-US" sz="1650" dirty="0"/>
          </a:p>
        </p:txBody>
      </p:sp>
      <p:sp>
        <p:nvSpPr>
          <p:cNvPr id="39" name="Shape 28"/>
          <p:cNvSpPr/>
          <p:nvPr/>
        </p:nvSpPr>
        <p:spPr>
          <a:xfrm>
            <a:off x="10477500" y="7154317"/>
            <a:ext cx="1924050" cy="1162050"/>
          </a:xfrm>
          <a:prstGeom prst="roundRect">
            <a:avLst>
              <a:gd name="adj" fmla="val 11475"/>
            </a:avLst>
          </a:prstGeom>
          <a:solidFill>
            <a:srgbClr val="F5F5F9"/>
          </a:solidFill>
          <a:ln w="9525">
            <a:solidFill>
              <a:srgbClr val="E4E7EE"/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96650" y="7420124"/>
            <a:ext cx="285750" cy="28575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618678" y="7820174"/>
            <a:ext cx="1641693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Пульс-опросы</a:t>
            </a:r>
            <a:endParaRPr lang="en-US" sz="1650" dirty="0"/>
          </a:p>
        </p:txBody>
      </p:sp>
      <p:sp>
        <p:nvSpPr>
          <p:cNvPr id="42" name="Shape 30"/>
          <p:cNvSpPr/>
          <p:nvPr/>
        </p:nvSpPr>
        <p:spPr>
          <a:xfrm>
            <a:off x="12763500" y="7154317"/>
            <a:ext cx="1924050" cy="1162050"/>
          </a:xfrm>
          <a:prstGeom prst="roundRect">
            <a:avLst>
              <a:gd name="adj" fmla="val 11475"/>
            </a:avLst>
          </a:prstGeom>
          <a:solidFill>
            <a:srgbClr val="F5F5F9"/>
          </a:solidFill>
          <a:ln w="9525">
            <a:solidFill>
              <a:srgbClr val="E4E7EE"/>
            </a:solidFill>
            <a:prstDash val="solid"/>
          </a:ln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582650" y="7406729"/>
            <a:ext cx="285750" cy="28575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3497967" y="7806779"/>
            <a:ext cx="5311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СДО</a:t>
            </a:r>
            <a:endParaRPr lang="en-US" sz="1650" dirty="0"/>
          </a:p>
        </p:txBody>
      </p:sp>
      <p:sp>
        <p:nvSpPr>
          <p:cNvPr id="45" name="Shape 32"/>
          <p:cNvSpPr/>
          <p:nvPr/>
        </p:nvSpPr>
        <p:spPr>
          <a:xfrm>
            <a:off x="6221462" y="8183017"/>
            <a:ext cx="5845076" cy="3714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50062" y="8254454"/>
            <a:ext cx="228600" cy="22860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792962" y="8240167"/>
            <a:ext cx="519632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Защищённый контур РЖД · 152-ФЗ · on-premise</a:t>
            </a:r>
            <a:endParaRPr lang="en-US" sz="1650" dirty="0"/>
          </a:p>
        </p:txBody>
      </p:sp>
      <p:sp>
        <p:nvSpPr>
          <p:cNvPr id="48" name="Text 34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49" name="Shape 35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26"/>
            <a:tile tx="0" ty="0" sx="100000" sy="100000" flip="none" algn="tl"/>
          </a:blipFill>
          <a:ln/>
        </p:spPr>
      </p:sp>
      <p:sp>
        <p:nvSpPr>
          <p:cNvPr id="50" name="Text 36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06 / 10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7572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27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ДОРОЖНАЯ КАРТА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7572941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42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 ответов — к действиям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82217"/>
            <a:ext cx="117729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Экосистема развивается тремя горизонтами — от справочника к агенту, который действует сам. Каждый этап опирается на предыдущий.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2698403"/>
            <a:ext cx="5257800" cy="5093047"/>
          </a:xfrm>
          <a:prstGeom prst="roundRect">
            <a:avLst>
              <a:gd name="adj" fmla="val 3366"/>
            </a:avLst>
          </a:prstGeom>
          <a:solidFill>
            <a:srgbClr val="F5F5F9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3771305"/>
            <a:ext cx="5071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ГОРИЗОНТ 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76350" y="4076105"/>
            <a:ext cx="50711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Отвечает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276350" y="4771430"/>
            <a:ext cx="4748403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LLM + RAG отвечает со ссылкой, интегрируется с модулем «Адаптация» и сам шлёт автонапоминания.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276350" y="5933777"/>
            <a:ext cx="4610100" cy="9525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6152852"/>
            <a:ext cx="4748403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 Точный ответ и знание контекста работника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15100" y="2698403"/>
            <a:ext cx="5257800" cy="5093047"/>
          </a:xfrm>
          <a:prstGeom prst="roundRect">
            <a:avLst>
              <a:gd name="adj" fmla="val 3366"/>
            </a:avLst>
          </a:prstGeom>
          <a:solidFill>
            <a:srgbClr val="F5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838950" y="3771305"/>
            <a:ext cx="5071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ГОРИЗОНТ 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8950" y="4076105"/>
            <a:ext cx="50711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Ведёт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838950" y="4771430"/>
            <a:ext cx="4748403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Персонализация и проактивность: голосовой доступ на линии и HR-аналитика по адаптации.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6838950" y="5933777"/>
            <a:ext cx="4610100" cy="9525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17" name="Text 15"/>
          <p:cNvSpPr/>
          <p:nvPr/>
        </p:nvSpPr>
        <p:spPr>
          <a:xfrm>
            <a:off x="6838950" y="6152852"/>
            <a:ext cx="4748403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 От справочника к персональному навигатору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2077700" y="2698403"/>
            <a:ext cx="5257800" cy="5093047"/>
          </a:xfrm>
          <a:prstGeom prst="roundRect">
            <a:avLst>
              <a:gd name="adj" fmla="val 3366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12401550" y="4071491"/>
            <a:ext cx="5071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FF6B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ГОРИЗОНТ 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401550" y="4376291"/>
            <a:ext cx="50711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Действует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2401550" y="5071616"/>
            <a:ext cx="474840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AEB6C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Агентные сценарии, единый цифровой профиль сотрудника и предиктив оттока.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2401550" y="5916364"/>
            <a:ext cx="4610100" cy="9525"/>
          </a:xfrm>
          <a:prstGeom prst="rect">
            <a:avLst/>
          </a:prstGeom>
          <a:solidFill>
            <a:srgbClr val="2E3D5A"/>
          </a:solidFill>
          <a:ln/>
        </p:spPr>
      </p:sp>
      <p:sp>
        <p:nvSpPr>
          <p:cNvPr id="23" name="Text 21"/>
          <p:cNvSpPr/>
          <p:nvPr/>
        </p:nvSpPr>
        <p:spPr>
          <a:xfrm>
            <a:off x="12401550" y="6135439"/>
            <a:ext cx="507111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 Единая ИИ-экосистема пути сотрудника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52500" y="8401050"/>
            <a:ext cx="16383000" cy="5715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" y="8372475"/>
            <a:ext cx="16383000" cy="1143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</p:spPr>
      </p:sp>
      <p:sp>
        <p:nvSpPr>
          <p:cNvPr id="26" name="Shape 24"/>
          <p:cNvSpPr/>
          <p:nvPr/>
        </p:nvSpPr>
        <p:spPr>
          <a:xfrm>
            <a:off x="3520976" y="8258175"/>
            <a:ext cx="323850" cy="3238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1621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6787" y="8753475"/>
            <a:ext cx="12284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kern="0" spc="63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2026–2028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8943975" y="8229600"/>
            <a:ext cx="400050" cy="40005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1621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7886" y="8801100"/>
            <a:ext cx="12284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kern="0" spc="63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2029–2031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4366825" y="8191500"/>
            <a:ext cx="476250" cy="476250"/>
          </a:xfrm>
          <a:prstGeom prst="ellipse">
            <a:avLst/>
          </a:prstGeom>
          <a:solidFill>
            <a:srgbClr val="E21A1A"/>
          </a:solidFill>
          <a:ln w="57150">
            <a:solidFill>
              <a:srgbClr val="FFFFFF"/>
            </a:solidFill>
            <a:prstDash val="solid"/>
          </a:ln>
          <a:effectLst>
            <a:outerShdw blurRad="101600" dist="50800" dir="16200000" algn="bl" rotWithShape="0">
              <a:srgbClr val="E21A1A">
                <a:alpha val="10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028837" y="8839200"/>
            <a:ext cx="12284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kern="0" spc="63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2032–2036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/>
        </p:spPr>
      </p:sp>
      <p:sp>
        <p:nvSpPr>
          <p:cNvPr id="34" name="Text 32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07 / 10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128390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27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ПИЛОТ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1283903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42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Пилот: помощник машиниста, один полигон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47750" y="2149376"/>
            <a:ext cx="4000500" cy="4000500"/>
          </a:xfrm>
          <a:prstGeom prst="ellipse">
            <a:avLst/>
          </a:prstGeom>
          <a:solidFill>
            <a:srgbClr val="F5F5F9"/>
          </a:solidFill>
          <a:ln w="19050">
            <a:solidFill>
              <a:srgbClr val="C9CFD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836688" y="2473226"/>
            <a:ext cx="2664887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ВОЛНА 2 · СЕТЬ ПОЛИГОНОВ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04975" y="2806601"/>
            <a:ext cx="2686050" cy="2686050"/>
          </a:xfrm>
          <a:prstGeom prst="ellipse">
            <a:avLst/>
          </a:prstGeom>
          <a:solidFill>
            <a:srgbClr val="E8EBF2"/>
          </a:solidFill>
          <a:ln/>
        </p:spPr>
      </p:sp>
      <p:sp>
        <p:nvSpPr>
          <p:cNvPr id="8" name="Text 6"/>
          <p:cNvSpPr/>
          <p:nvPr/>
        </p:nvSpPr>
        <p:spPr>
          <a:xfrm>
            <a:off x="1821359" y="3216176"/>
            <a:ext cx="2698611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ВОЛНА 1 · +2–3 ПРОФЕССИИ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24100" y="3425726"/>
            <a:ext cx="1447800" cy="1447800"/>
          </a:xfrm>
          <a:prstGeom prst="ellipse">
            <a:avLst/>
          </a:prstGeom>
          <a:solidFill>
            <a:srgbClr val="E21A1A"/>
          </a:solidFill>
          <a:ln/>
        </p:spPr>
      </p:sp>
      <p:sp>
        <p:nvSpPr>
          <p:cNvPr id="10" name="Text 8"/>
          <p:cNvSpPr/>
          <p:nvPr/>
        </p:nvSpPr>
        <p:spPr>
          <a:xfrm>
            <a:off x="2513261" y="3873401"/>
            <a:ext cx="11455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4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ПИЛОТ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626816" y="4254401"/>
            <a:ext cx="9185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>
                    <a:alpha val="8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Локобот 2.0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89635" y="6359426"/>
            <a:ext cx="431673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Почему помощник машиниста: </a:t>
            </a: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массовая, дефицитная и жёстко регламентированная профессия — идеальна для проверки RAG.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753100" y="2639020"/>
            <a:ext cx="11582400" cy="1811536"/>
          </a:xfrm>
          <a:prstGeom prst="roundRect">
            <a:avLst>
              <a:gd name="adj" fmla="val 8413"/>
            </a:avLst>
          </a:prstGeom>
          <a:solidFill>
            <a:srgbClr val="FDECEC"/>
          </a:solidFill>
          <a:ln w="19050">
            <a:solidFill>
              <a:srgbClr val="E2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150" y="2981920"/>
            <a:ext cx="118605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КРИТЕРИЙ СТОП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53150" y="3305770"/>
            <a:ext cx="1186053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Точность ответов ниже 85%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6153150" y="3840956"/>
            <a:ext cx="118605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Останавливаем пилот и разбираем причины.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5753100" y="4698206"/>
            <a:ext cx="11582400" cy="1811536"/>
          </a:xfrm>
          <a:prstGeom prst="roundRect">
            <a:avLst>
              <a:gd name="adj" fmla="val 8413"/>
            </a:avLst>
          </a:prstGeom>
          <a:solidFill>
            <a:srgbClr val="F5F5F9"/>
          </a:solidFill>
          <a:ln w="1905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150" y="5041106"/>
            <a:ext cx="118605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КРИТЕРИЙ МАСШТАБА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53150" y="5364956"/>
            <a:ext cx="1186053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≥ 70% вопросов ботом · CSAT ≥ 4,0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6153150" y="5900142"/>
            <a:ext cx="118605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Разворачиваем на следующие профессии.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5173980" y="6757392"/>
            <a:ext cx="127406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Пилот ≠ вся система </a:t>
            </a:r>
            <a:r>
              <a:rPr lang="en-US" sz="180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запускаем только Локобот 2.0, не всё сразу.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8185845"/>
            <a:ext cx="16383000" cy="977205"/>
          </a:xfrm>
          <a:prstGeom prst="roundRect">
            <a:avLst>
              <a:gd name="adj" fmla="val 15595"/>
            </a:avLst>
          </a:prstGeom>
          <a:solidFill>
            <a:srgbClr val="F5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1276350" y="8451652"/>
            <a:ext cx="162237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kern="0" spc="189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ЧТО ПРОВЕРЯЕМ В ПИЛОТЕ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146375" y="8502997"/>
            <a:ext cx="342900" cy="342900"/>
          </a:xfrm>
          <a:prstGeom prst="ellipse">
            <a:avLst/>
          </a:prstGeom>
          <a:solidFill>
            <a:srgbClr val="E2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275" y="8502997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1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622625" y="8544371"/>
            <a:ext cx="4216866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Точность ответов бота по регламентам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7850684" y="8502997"/>
            <a:ext cx="342900" cy="342900"/>
          </a:xfrm>
          <a:prstGeom prst="ellipse">
            <a:avLst/>
          </a:prstGeom>
          <a:solidFill>
            <a:srgbClr val="E2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7812584" y="8502997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26934" y="8414445"/>
            <a:ext cx="40998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Доля вопросов без эскалации к наставнику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2554992" y="8502997"/>
            <a:ext cx="342900" cy="342900"/>
          </a:xfrm>
          <a:prstGeom prst="ellipse">
            <a:avLst/>
          </a:prstGeom>
          <a:solidFill>
            <a:srgbClr val="E2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12516892" y="8502997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3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031242" y="8544371"/>
            <a:ext cx="4001259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7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Удовлетворённость новичков (CSAT)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</p:spPr>
      </p:sp>
      <p:sp>
        <p:nvSpPr>
          <p:cNvPr id="35" name="Text 33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08 / 10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111580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27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ЭКОНОМИКА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11158046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42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Рискуем малым — масштаб окупается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953667"/>
            <a:ext cx="5283101" cy="4267200"/>
          </a:xfrm>
          <a:prstGeom prst="roundRect">
            <a:avLst>
              <a:gd name="adj" fmla="val 4018"/>
            </a:avLst>
          </a:prstGeom>
          <a:solidFill>
            <a:srgbClr val="F5F5F9"/>
          </a:solidFill>
          <a:ln/>
        </p:spPr>
      </p:sp>
      <p:sp>
        <p:nvSpPr>
          <p:cNvPr id="6" name="Shape 4"/>
          <p:cNvSpPr/>
          <p:nvPr/>
        </p:nvSpPr>
        <p:spPr>
          <a:xfrm>
            <a:off x="1295400" y="2710160"/>
            <a:ext cx="533400" cy="5334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8750" y="2843510"/>
            <a:ext cx="26670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81200" y="2881610"/>
            <a:ext cx="6347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179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ПИЛОТ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295400" y="3434060"/>
            <a:ext cx="47352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Обратим и недорог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1295400" y="4577060"/>
            <a:ext cx="4735220" cy="92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Работает на существующей команде Сервисного портала, без капитальных вложений.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6502301" y="1953667"/>
            <a:ext cx="5283250" cy="4267200"/>
          </a:xfrm>
          <a:prstGeom prst="roundRect">
            <a:avLst>
              <a:gd name="adj" fmla="val 4018"/>
            </a:avLst>
          </a:prstGeom>
          <a:solidFill>
            <a:srgbClr val="16213E"/>
          </a:solidFill>
          <a:ln/>
        </p:spPr>
      </p:sp>
      <p:sp>
        <p:nvSpPr>
          <p:cNvPr id="12" name="Shape 9"/>
          <p:cNvSpPr/>
          <p:nvPr/>
        </p:nvSpPr>
        <p:spPr>
          <a:xfrm>
            <a:off x="6845201" y="2464296"/>
            <a:ext cx="533400" cy="5334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8551" y="2597646"/>
            <a:ext cx="266700" cy="2667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31001" y="2635746"/>
            <a:ext cx="8581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kern="0" spc="179" dirty="0">
                <a:solidFill>
                  <a:srgbClr val="FF6B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МАСШТАБ</a:t>
            </a:r>
            <a:endParaRPr lang="en-US" sz="1275" dirty="0"/>
          </a:p>
        </p:txBody>
      </p:sp>
      <p:sp>
        <p:nvSpPr>
          <p:cNvPr id="15" name="Text 11"/>
          <p:cNvSpPr/>
          <p:nvPr/>
        </p:nvSpPr>
        <p:spPr>
          <a:xfrm>
            <a:off x="6845201" y="3188196"/>
            <a:ext cx="5057195" cy="84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5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+242</a:t>
            </a:r>
            <a:endParaRPr lang="en-US" sz="7050" dirty="0"/>
          </a:p>
        </p:txBody>
      </p:sp>
      <p:sp>
        <p:nvSpPr>
          <p:cNvPr id="16" name="Text 12"/>
          <p:cNvSpPr/>
          <p:nvPr/>
        </p:nvSpPr>
        <p:spPr>
          <a:xfrm>
            <a:off x="6845201" y="4051102"/>
            <a:ext cx="50571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млн ₽ / год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6845201" y="4527352"/>
            <a:ext cx="4735373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AEB6C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Экономия на удержании: каждый сотрудник, не уволившийся в первый год, экономит стоимость повторного найма и обучения.</a:t>
            </a:r>
            <a:endParaRPr lang="en-US" sz="1725" dirty="0"/>
          </a:p>
        </p:txBody>
      </p:sp>
      <p:sp>
        <p:nvSpPr>
          <p:cNvPr id="18" name="Shape 14"/>
          <p:cNvSpPr/>
          <p:nvPr/>
        </p:nvSpPr>
        <p:spPr>
          <a:xfrm>
            <a:off x="12052250" y="1953667"/>
            <a:ext cx="5283250" cy="4267200"/>
          </a:xfrm>
          <a:prstGeom prst="roundRect">
            <a:avLst>
              <a:gd name="adj" fmla="val 4018"/>
            </a:avLst>
          </a:prstGeom>
          <a:solidFill>
            <a:srgbClr val="F5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12395150" y="2612082"/>
            <a:ext cx="533400" cy="5334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28500" y="2745432"/>
            <a:ext cx="266700" cy="2667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080950" y="2783532"/>
            <a:ext cx="8581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179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ВОЗВРАТ</a:t>
            </a:r>
            <a:endParaRPr lang="en-US" sz="1275" dirty="0"/>
          </a:p>
        </p:txBody>
      </p:sp>
      <p:sp>
        <p:nvSpPr>
          <p:cNvPr id="22" name="Text 17"/>
          <p:cNvSpPr/>
          <p:nvPr/>
        </p:nvSpPr>
        <p:spPr>
          <a:xfrm>
            <a:off x="12395150" y="3335982"/>
            <a:ext cx="5057195" cy="84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5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≈105%</a:t>
            </a:r>
            <a:endParaRPr lang="en-US" sz="7050" dirty="0"/>
          </a:p>
        </p:txBody>
      </p:sp>
      <p:sp>
        <p:nvSpPr>
          <p:cNvPr id="23" name="Text 18"/>
          <p:cNvSpPr/>
          <p:nvPr/>
        </p:nvSpPr>
        <p:spPr>
          <a:xfrm>
            <a:off x="12395150" y="4198888"/>
            <a:ext cx="50571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ROI</a:t>
            </a:r>
            <a:endParaRPr lang="en-US" sz="2250" dirty="0"/>
          </a:p>
        </p:txBody>
      </p:sp>
      <p:sp>
        <p:nvSpPr>
          <p:cNvPr id="24" name="Text 19"/>
          <p:cNvSpPr/>
          <p:nvPr/>
        </p:nvSpPr>
        <p:spPr>
          <a:xfrm>
            <a:off x="12395150" y="4675138"/>
            <a:ext cx="4735373" cy="92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Расчёт учитывает реальные затраты на инфраструктуру и поддержку при масштабировании.</a:t>
            </a:r>
            <a:endParaRPr lang="en-US" sz="1725" dirty="0"/>
          </a:p>
        </p:txBody>
      </p:sp>
      <p:sp>
        <p:nvSpPr>
          <p:cNvPr id="25" name="Shape 20"/>
          <p:cNvSpPr/>
          <p:nvPr/>
        </p:nvSpPr>
        <p:spPr>
          <a:xfrm>
            <a:off x="952500" y="6487567"/>
            <a:ext cx="16383000" cy="9525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/>
        </p:spPr>
      </p:sp>
      <p:sp>
        <p:nvSpPr>
          <p:cNvPr id="26" name="Shape 21"/>
          <p:cNvSpPr/>
          <p:nvPr/>
        </p:nvSpPr>
        <p:spPr>
          <a:xfrm>
            <a:off x="1276350" y="6716167"/>
            <a:ext cx="66675" cy="495300"/>
          </a:xfrm>
          <a:prstGeom prst="roundRect">
            <a:avLst>
              <a:gd name="adj" fmla="val 42857"/>
            </a:avLst>
          </a:prstGeom>
          <a:solidFill>
            <a:srgbClr val="E21A1A"/>
          </a:solidFill>
          <a:ln/>
        </p:spPr>
      </p:sp>
      <p:sp>
        <p:nvSpPr>
          <p:cNvPr id="27" name="Text 22"/>
          <p:cNvSpPr/>
          <p:nvPr/>
        </p:nvSpPr>
        <p:spPr>
          <a:xfrm>
            <a:off x="1533525" y="6809036"/>
            <a:ext cx="159768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 пилоте решение не окупается — и это правильно: пилот проверяет гипотезы. Экономика разворачивается на масштабе.</a:t>
            </a:r>
            <a:endParaRPr lang="en-US" sz="1875" dirty="0"/>
          </a:p>
        </p:txBody>
      </p:sp>
      <p:sp>
        <p:nvSpPr>
          <p:cNvPr id="28" name="Text 23"/>
          <p:cNvSpPr/>
          <p:nvPr/>
        </p:nvSpPr>
        <p:spPr>
          <a:xfrm>
            <a:off x="952500" y="7611517"/>
            <a:ext cx="1802130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A2A9B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Считаем только удержание сотрудников. Высвобождение наставников (~68 FTE) учитываем как ресурс, а не в деньгах.</a:t>
            </a:r>
            <a:endParaRPr lang="en-US" sz="1575" dirty="0"/>
          </a:p>
        </p:txBody>
      </p:sp>
      <p:sp>
        <p:nvSpPr>
          <p:cNvPr id="29" name="Text 24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0" name="Shape 25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  <a:ln/>
        </p:spPr>
      </p:sp>
      <p:sp>
        <p:nvSpPr>
          <p:cNvPr id="31" name="Text 26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09 / 10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429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666750"/>
            <a:ext cx="58322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27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РИСКИ И ПРИЗЫВ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990600"/>
            <a:ext cx="5832202" cy="543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900" b="1" kern="0" spc="-39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Риски под контролем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1876723"/>
            <a:ext cx="5308550" cy="2647950"/>
          </a:xfrm>
          <a:prstGeom prst="roundRect">
            <a:avLst>
              <a:gd name="adj" fmla="val 5755"/>
            </a:avLst>
          </a:prstGeom>
          <a:solidFill>
            <a:srgbClr val="1E2C4A"/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2200573"/>
            <a:ext cx="495300" cy="4953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1125" y="2324398"/>
            <a:ext cx="247650" cy="2476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7300" y="2848273"/>
            <a:ext cx="5168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Галлюцинации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257300" y="3295948"/>
            <a:ext cx="4839919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D6DCE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Бот отвечает только из проверенной базы со ссылкой на источник; при неуверенности — переводит на наставника.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489650" y="1876723"/>
            <a:ext cx="5308699" cy="2647950"/>
          </a:xfrm>
          <a:prstGeom prst="roundRect">
            <a:avLst>
              <a:gd name="adj" fmla="val 5755"/>
            </a:avLst>
          </a:prstGeom>
          <a:solidFill>
            <a:srgbClr val="1E2C4A"/>
          </a:solidFill>
          <a:ln/>
        </p:spPr>
      </p:sp>
      <p:sp>
        <p:nvSpPr>
          <p:cNvPr id="11" name="Shape 8"/>
          <p:cNvSpPr/>
          <p:nvPr/>
        </p:nvSpPr>
        <p:spPr>
          <a:xfrm>
            <a:off x="6794450" y="2200573"/>
            <a:ext cx="495300" cy="4953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8275" y="2324398"/>
            <a:ext cx="247650" cy="2476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94450" y="2848273"/>
            <a:ext cx="5169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Данные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6794450" y="3295948"/>
            <a:ext cx="4840072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D6DCE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Всё в защищённом контуре РЖД, российские модели, чувствительные данные исключены.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12026950" y="1876723"/>
            <a:ext cx="5308550" cy="2647950"/>
          </a:xfrm>
          <a:prstGeom prst="roundRect">
            <a:avLst>
              <a:gd name="adj" fmla="val 5755"/>
            </a:avLst>
          </a:prstGeom>
          <a:solidFill>
            <a:srgbClr val="1E2C4A"/>
          </a:solidFill>
          <a:ln/>
        </p:spPr>
      </p:sp>
      <p:sp>
        <p:nvSpPr>
          <p:cNvPr id="16" name="Shape 12"/>
          <p:cNvSpPr/>
          <p:nvPr/>
        </p:nvSpPr>
        <p:spPr>
          <a:xfrm>
            <a:off x="12331750" y="2200573"/>
            <a:ext cx="495300" cy="4953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455575" y="2324398"/>
            <a:ext cx="247650" cy="2476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31750" y="2848273"/>
            <a:ext cx="5168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Деньги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12331750" y="3295948"/>
            <a:ext cx="4839919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D6DCE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Обратимый пилот с понятными критериями — рискуем малым, масштаб под доказанный эффект.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952500" y="4905673"/>
            <a:ext cx="2918520" cy="1333500"/>
          </a:xfrm>
          <a:prstGeom prst="roundRect">
            <a:avLst>
              <a:gd name="adj" fmla="val 10000"/>
            </a:avLst>
          </a:prstGeom>
          <a:solidFill>
            <a:srgbClr val="E21A1A"/>
          </a:solidFill>
          <a:ln/>
        </p:spPr>
      </p:sp>
      <p:sp>
        <p:nvSpPr>
          <p:cNvPr id="21" name="Text 16"/>
          <p:cNvSpPr/>
          <p:nvPr/>
        </p:nvSpPr>
        <p:spPr>
          <a:xfrm>
            <a:off x="1238250" y="5320010"/>
            <a:ext cx="2581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35" dirty="0">
                <a:solidFill>
                  <a:srgbClr val="FFFFFF">
                    <a:alpha val="85000"/>
                  </a:srgbClr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ШАГ 0</a:t>
            </a:r>
            <a:endParaRPr lang="en-US" sz="1125" dirty="0"/>
          </a:p>
        </p:txBody>
      </p:sp>
      <p:sp>
        <p:nvSpPr>
          <p:cNvPr id="22" name="Text 17"/>
          <p:cNvSpPr/>
          <p:nvPr/>
        </p:nvSpPr>
        <p:spPr>
          <a:xfrm>
            <a:off x="1238250" y="5529560"/>
            <a:ext cx="25817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Согласовать пилот</a:t>
            </a:r>
            <a:endParaRPr lang="en-US" sz="1950" dirty="0"/>
          </a:p>
        </p:txBody>
      </p:sp>
      <p:sp>
        <p:nvSpPr>
          <p:cNvPr id="23" name="Text 18"/>
          <p:cNvSpPr/>
          <p:nvPr/>
        </p:nvSpPr>
        <p:spPr>
          <a:xfrm>
            <a:off x="4023420" y="4905673"/>
            <a:ext cx="3619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Shape 19"/>
          <p:cNvSpPr/>
          <p:nvPr/>
        </p:nvSpPr>
        <p:spPr>
          <a:xfrm>
            <a:off x="4461570" y="4905673"/>
            <a:ext cx="6141690" cy="1333500"/>
          </a:xfrm>
          <a:prstGeom prst="roundRect">
            <a:avLst>
              <a:gd name="adj" fmla="val 10000"/>
            </a:avLst>
          </a:prstGeom>
          <a:solidFill>
            <a:srgbClr val="1E2C4A"/>
          </a:solidFill>
          <a:ln/>
        </p:spPr>
      </p:sp>
      <p:sp>
        <p:nvSpPr>
          <p:cNvPr id="25" name="Text 20"/>
          <p:cNvSpPr/>
          <p:nvPr/>
        </p:nvSpPr>
        <p:spPr>
          <a:xfrm>
            <a:off x="4747320" y="5329535"/>
            <a:ext cx="61272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35" dirty="0">
                <a:solidFill>
                  <a:srgbClr val="8FA0C0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ЧЕРЕЗ 90 ДНЕЙ</a:t>
            </a:r>
            <a:endParaRPr lang="en-US" sz="1125" dirty="0"/>
          </a:p>
        </p:txBody>
      </p:sp>
      <p:sp>
        <p:nvSpPr>
          <p:cNvPr id="26" name="Text 21"/>
          <p:cNvSpPr/>
          <p:nvPr/>
        </p:nvSpPr>
        <p:spPr>
          <a:xfrm>
            <a:off x="4747320" y="5539085"/>
            <a:ext cx="61272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Работающий MVP Локобота 2.0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0755660" y="4905673"/>
            <a:ext cx="3619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</a:t>
            </a:r>
            <a:endParaRPr lang="en-US" sz="2250" dirty="0"/>
          </a:p>
        </p:txBody>
      </p:sp>
      <p:sp>
        <p:nvSpPr>
          <p:cNvPr id="28" name="Shape 23"/>
          <p:cNvSpPr/>
          <p:nvPr/>
        </p:nvSpPr>
        <p:spPr>
          <a:xfrm>
            <a:off x="11193810" y="4905673"/>
            <a:ext cx="6141690" cy="1333500"/>
          </a:xfrm>
          <a:prstGeom prst="roundRect">
            <a:avLst>
              <a:gd name="adj" fmla="val 10000"/>
            </a:avLst>
          </a:prstGeom>
          <a:solidFill>
            <a:srgbClr val="1E2C4A"/>
          </a:solidFill>
          <a:ln/>
        </p:spPr>
      </p:sp>
      <p:sp>
        <p:nvSpPr>
          <p:cNvPr id="29" name="Text 24"/>
          <p:cNvSpPr/>
          <p:nvPr/>
        </p:nvSpPr>
        <p:spPr>
          <a:xfrm>
            <a:off x="11479560" y="5191423"/>
            <a:ext cx="61272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35" dirty="0">
                <a:solidFill>
                  <a:srgbClr val="8FA0C0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ЧЕРЕЗ ГОД</a:t>
            </a:r>
            <a:endParaRPr lang="en-US" sz="1125" dirty="0"/>
          </a:p>
        </p:txBody>
      </p:sp>
      <p:sp>
        <p:nvSpPr>
          <p:cNvPr id="30" name="Text 25"/>
          <p:cNvSpPr/>
          <p:nvPr/>
        </p:nvSpPr>
        <p:spPr>
          <a:xfrm>
            <a:off x="11479560" y="5400973"/>
            <a:ext cx="573729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Измеримый ответ: разворачивать ли на всю сеть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952500" y="8229600"/>
            <a:ext cx="114300" cy="10477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2" name="Text 27"/>
          <p:cNvSpPr/>
          <p:nvPr/>
        </p:nvSpPr>
        <p:spPr>
          <a:xfrm>
            <a:off x="1352550" y="7677150"/>
            <a:ext cx="6791492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26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Начнём с малого шага сегодня</a:t>
            </a:r>
            <a:endParaRPr lang="en-US" sz="6300" dirty="0"/>
          </a:p>
        </p:txBody>
      </p:sp>
      <p:sp>
        <p:nvSpPr>
          <p:cNvPr id="33" name="Text 28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  <a:ln/>
        </p:spPr>
      </p:sp>
      <p:sp>
        <p:nvSpPr>
          <p:cNvPr id="35" name="Text 30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FFFFFF">
                    <a:alpha val="55000"/>
                  </a:srgbClr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10 / 10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1942</Words>
  <Application>Microsoft Office PowerPoint</Application>
  <PresentationFormat>Произвольный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-apple-system</vt:lpstr>
      <vt:lpstr>Arial</vt:lpstr>
      <vt:lpstr>Calibri</vt:lpstr>
      <vt:lpstr>Consolas</vt:lpstr>
      <vt:lpstr>Golos Text</vt:lpstr>
      <vt:lpstr>Spline Sans Mono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Максим Ластовенко</cp:lastModifiedBy>
  <cp:revision>4</cp:revision>
  <dcterms:created xsi:type="dcterms:W3CDTF">2026-07-08T10:55:01Z</dcterms:created>
  <dcterms:modified xsi:type="dcterms:W3CDTF">2026-07-09T15:16:42Z</dcterms:modified>
</cp:coreProperties>
</file>